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7"/>
  </p:normalViewPr>
  <p:slideViewPr>
    <p:cSldViewPr snapToGrid="0" snapToObjects="1">
      <p:cViewPr varScale="1">
        <p:scale>
          <a:sx n="108" d="100"/>
          <a:sy n="108" d="100"/>
        </p:scale>
        <p:origin x="64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8840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Thank them for the first conversation. Frame today: confirm we understood the goals, show how Factory addresses them, then run the demo.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DRAFT built from our working assumptions, not from the customer's own words. Before presenting, replace each card with their actual language and confirm with them. Ask: did we miss anything? Audience: CIO (risk, cost, governance) and Head of Engineering (behavior preserved, fits process, trustworthy output).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item here is from docs.factory.com (read 26-27 Oct 2026). Software Factory and OpenCompute are private preview: confirm access before promising them. Readiness commands and Missions: confirm on the demo plan.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fair: other agents also offer subagents, skills, hooks, MCP and headless modes. The argument is the packaged, governed, org-wide default and the measured result, not exclusive features. Back it with the demo scorecard, which you must build from your own dry run. Do not quote numbers you have not measured.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figures are quoted from factory.com/case-studies (blackstone, comarch, nav, chainguard) as written on those pages. They are Factory's published customer stories, not our measurements and not independently verified. Pick the two closest to the audience: Blackstone (control, air-gap, model independence) and Comarch (migrations).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24 minutes plus an optional module (Environments, Droid Computers, Remote Control). Order and timings are from demo-runbook.md. Anything your plan does not include gets replaced by the docs page. Show only measured numbers on the scorecard.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phases and weeks are my proposal in enterprise-rollout.md. Factory publishes no phased rollout, so present this as a starting point to adapt. Deployment guidance from the docs: start with Factory Managed; consider Private (your VPC, private preview) only if a requirement rules Managed out.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Owners and dates are blank on purpose: agree them in the room. Open items to confirm with Factory beforehand: SSO and SCIM specifics, Software Factory and OpenCompute preview access, pricing and credit model for their volume, comparable references.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Leave the next-steps slide available for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394870"/>
            <a:ext cx="12191695" cy="6858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148840"/>
            <a:ext cx="91440" cy="1828800"/>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309258" y="2592931"/>
            <a:ext cx="4480955" cy="270843"/>
          </a:xfrm>
          <a:prstGeom prst="rect">
            <a:avLst/>
          </a:prstGeom>
          <a:noFill/>
        </p:spPr>
        <p:txBody>
          <a:bodyPr wrap="square" lIns="45720" tIns="27432" rIns="45720" bIns="27432" anchor="t">
            <a:spAutoFit/>
          </a:bodyPr>
          <a:lstStyle/>
          <a:p>
            <a:pPr algn="l"/>
            <a:r>
              <a:rPr lang="en-CA" sz="1400" b="1" dirty="0">
                <a:solidFill>
                  <a:srgbClr val="D15010"/>
                </a:solidFill>
                <a:latin typeface="Arial"/>
              </a:rPr>
              <a:t>Taking control of your AI driven growth aspirations</a:t>
            </a:r>
            <a:endParaRPr sz="1400" b="1" dirty="0">
              <a:solidFill>
                <a:srgbClr val="D15010"/>
              </a:solidFill>
              <a:latin typeface="Arial"/>
            </a:endParaRPr>
          </a:p>
        </p:txBody>
      </p:sp>
      <p:sp>
        <p:nvSpPr>
          <p:cNvPr id="5" name="TextBox 4"/>
          <p:cNvSpPr txBox="1"/>
          <p:nvPr/>
        </p:nvSpPr>
        <p:spPr>
          <a:xfrm>
            <a:off x="1097280" y="2057400"/>
            <a:ext cx="7498079" cy="670953"/>
          </a:xfrm>
          <a:prstGeom prst="rect">
            <a:avLst/>
          </a:prstGeom>
          <a:noFill/>
        </p:spPr>
        <p:txBody>
          <a:bodyPr wrap="square" lIns="45720" tIns="27432" rIns="45720" bIns="27432" anchor="t">
            <a:spAutoFit/>
          </a:bodyPr>
          <a:lstStyle/>
          <a:p>
            <a:pPr algn="l"/>
            <a:r>
              <a:rPr lang="en-CA" sz="4000" b="1" dirty="0">
                <a:solidFill>
                  <a:srgbClr val="F5F5F5"/>
                </a:solidFill>
                <a:latin typeface="Arial"/>
              </a:rPr>
              <a:t>Green Screen to Modern UI</a:t>
            </a:r>
          </a:p>
        </p:txBody>
      </p:sp>
      <p:sp>
        <p:nvSpPr>
          <p:cNvPr id="6" name="TextBox 5"/>
          <p:cNvSpPr txBox="1"/>
          <p:nvPr/>
        </p:nvSpPr>
        <p:spPr>
          <a:xfrm>
            <a:off x="1188720" y="3657671"/>
            <a:ext cx="7315200" cy="332399"/>
          </a:xfrm>
          <a:prstGeom prst="rect">
            <a:avLst/>
          </a:prstGeom>
          <a:noFill/>
        </p:spPr>
        <p:txBody>
          <a:bodyPr wrap="square" lIns="45720" tIns="27432" rIns="45720" bIns="27432" anchor="t">
            <a:spAutoFit/>
          </a:bodyPr>
          <a:lstStyle/>
          <a:p>
            <a:pPr algn="l"/>
            <a:r>
              <a:rPr b="0" i="1" dirty="0">
                <a:solidFill>
                  <a:srgbClr val="A3A3A3"/>
                </a:solidFill>
                <a:latin typeface="Arial"/>
              </a:rPr>
              <a:t>What we heard</a:t>
            </a:r>
            <a:r>
              <a:rPr lang="en-CA" b="0" i="1" dirty="0">
                <a:solidFill>
                  <a:srgbClr val="A3A3A3"/>
                </a:solidFill>
                <a:latin typeface="Arial"/>
              </a:rPr>
              <a:t> &amp;</a:t>
            </a:r>
            <a:r>
              <a:rPr b="0" i="1" dirty="0">
                <a:solidFill>
                  <a:srgbClr val="A3A3A3"/>
                </a:solidFill>
                <a:latin typeface="Arial"/>
              </a:rPr>
              <a:t> how Factory</a:t>
            </a:r>
            <a:r>
              <a:rPr lang="en-CA" b="0" i="1" dirty="0">
                <a:solidFill>
                  <a:srgbClr val="A3A3A3"/>
                </a:solidFill>
                <a:latin typeface="Arial"/>
              </a:rPr>
              <a:t>.ai</a:t>
            </a:r>
            <a:r>
              <a:rPr b="0" i="1" dirty="0">
                <a:solidFill>
                  <a:srgbClr val="A3A3A3"/>
                </a:solidFill>
                <a:latin typeface="Arial"/>
              </a:rPr>
              <a:t> helps</a:t>
            </a:r>
          </a:p>
        </p:txBody>
      </p:sp>
      <p:pic>
        <p:nvPicPr>
          <p:cNvPr id="7" name="Picture 6" descr="logo_orange.png"/>
          <p:cNvPicPr>
            <a:picLocks noChangeAspect="1"/>
          </p:cNvPicPr>
          <p:nvPr/>
        </p:nvPicPr>
        <p:blipFill>
          <a:blip r:embed="rId3"/>
          <a:stretch>
            <a:fillRect/>
          </a:stretch>
        </p:blipFill>
        <p:spPr>
          <a:xfrm>
            <a:off x="8778240" y="1737360"/>
            <a:ext cx="2743200" cy="2743200"/>
          </a:xfrm>
          <a:prstGeom prst="rect">
            <a:avLst/>
          </a:prstGeom>
        </p:spPr>
      </p:pic>
      <p:pic>
        <p:nvPicPr>
          <p:cNvPr id="9" name="Picture 8">
            <a:extLst>
              <a:ext uri="{FF2B5EF4-FFF2-40B4-BE49-F238E27FC236}">
                <a16:creationId xmlns:a16="http://schemas.microsoft.com/office/drawing/2014/main" id="{F6384088-E5C8-8CD1-0092-290DD069F1D9}"/>
              </a:ext>
            </a:extLst>
          </p:cNvPr>
          <p:cNvPicPr>
            <a:picLocks noChangeAspect="1"/>
          </p:cNvPicPr>
          <p:nvPr/>
        </p:nvPicPr>
        <p:blipFill>
          <a:blip r:embed="rId4"/>
          <a:stretch>
            <a:fillRect/>
          </a:stretch>
        </p:blipFill>
        <p:spPr>
          <a:xfrm>
            <a:off x="3309258" y="3977640"/>
            <a:ext cx="1883806" cy="6139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02920"/>
            <a:ext cx="73152" cy="868680"/>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9144000" cy="320040"/>
          </a:xfrm>
          <a:prstGeom prst="rect">
            <a:avLst/>
          </a:prstGeom>
          <a:noFill/>
        </p:spPr>
        <p:txBody>
          <a:bodyPr wrap="square" lIns="45720" tIns="27432" rIns="45720" bIns="27432" anchor="t">
            <a:spAutoFit/>
          </a:bodyPr>
          <a:lstStyle/>
          <a:p>
            <a:pPr algn="l"/>
            <a:r>
              <a:rPr sz="1200" b="1">
                <a:solidFill>
                  <a:srgbClr val="D15010"/>
                </a:solidFill>
                <a:latin typeface="Arial"/>
              </a:rPr>
              <a:t>YOUR GOALS</a:t>
            </a:r>
          </a:p>
        </p:txBody>
      </p:sp>
      <p:sp>
        <p:nvSpPr>
          <p:cNvPr id="5" name="TextBox 4"/>
          <p:cNvSpPr txBox="1"/>
          <p:nvPr/>
        </p:nvSpPr>
        <p:spPr>
          <a:xfrm>
            <a:off x="731520" y="749808"/>
            <a:ext cx="10515600" cy="731520"/>
          </a:xfrm>
          <a:prstGeom prst="rect">
            <a:avLst/>
          </a:prstGeom>
          <a:noFill/>
        </p:spPr>
        <p:txBody>
          <a:bodyPr wrap="square" lIns="45720" tIns="27432" rIns="45720" bIns="27432" anchor="t">
            <a:spAutoFit/>
          </a:bodyPr>
          <a:lstStyle/>
          <a:p>
            <a:pPr algn="l"/>
            <a:r>
              <a:rPr sz="3200" b="1">
                <a:solidFill>
                  <a:srgbClr val="F5F5F5"/>
                </a:solidFill>
                <a:latin typeface="Arial"/>
              </a:rPr>
              <a:t>What we heard</a:t>
            </a:r>
          </a:p>
        </p:txBody>
      </p:sp>
      <p:pic>
        <p:nvPicPr>
          <p:cNvPr id="6" name="Picture 5" descr="logo_orange.png"/>
          <p:cNvPicPr>
            <a:picLocks noChangeAspect="1"/>
          </p:cNvPicPr>
          <p:nvPr/>
        </p:nvPicPr>
        <p:blipFill>
          <a:blip r:embed="rId3"/>
          <a:stretch>
            <a:fillRect/>
          </a:stretch>
        </p:blipFill>
        <p:spPr>
          <a:xfrm>
            <a:off x="11155680" y="457200"/>
            <a:ext cx="502920" cy="502920"/>
          </a:xfrm>
          <a:prstGeom prst="rect">
            <a:avLst/>
          </a:prstGeom>
        </p:spPr>
      </p:pic>
      <p:sp>
        <p:nvSpPr>
          <p:cNvPr id="7" name="TextBox 6"/>
          <p:cNvSpPr txBox="1"/>
          <p:nvPr/>
        </p:nvSpPr>
        <p:spPr>
          <a:xfrm>
            <a:off x="11155680" y="6400800"/>
            <a:ext cx="731520" cy="274320"/>
          </a:xfrm>
          <a:prstGeom prst="rect">
            <a:avLst/>
          </a:prstGeom>
          <a:noFill/>
        </p:spPr>
        <p:txBody>
          <a:bodyPr wrap="square" lIns="45720" tIns="27432" rIns="45720" bIns="27432" anchor="t">
            <a:spAutoFit/>
          </a:bodyPr>
          <a:lstStyle/>
          <a:p>
            <a:pPr algn="r"/>
            <a:r>
              <a:rPr sz="1000" b="0">
                <a:solidFill>
                  <a:srgbClr val="A3A3A3"/>
                </a:solidFill>
                <a:latin typeface="Arial"/>
              </a:rPr>
              <a:t>2</a:t>
            </a:r>
          </a:p>
        </p:txBody>
      </p:sp>
      <p:sp>
        <p:nvSpPr>
          <p:cNvPr id="8" name="TextBox 7"/>
          <p:cNvSpPr txBox="1"/>
          <p:nvPr/>
        </p:nvSpPr>
        <p:spPr>
          <a:xfrm>
            <a:off x="548640" y="6400800"/>
            <a:ext cx="5486400" cy="274320"/>
          </a:xfrm>
          <a:prstGeom prst="rect">
            <a:avLst/>
          </a:prstGeom>
          <a:noFill/>
        </p:spPr>
        <p:txBody>
          <a:bodyPr wrap="square" lIns="45720" tIns="27432" rIns="45720" bIns="27432" anchor="t">
            <a:spAutoFit/>
          </a:bodyPr>
          <a:lstStyle/>
          <a:p>
            <a:pPr algn="l"/>
            <a:r>
              <a:rPr sz="1000" b="0">
                <a:solidFill>
                  <a:srgbClr val="A3A3A3"/>
                </a:solidFill>
                <a:latin typeface="Arial"/>
              </a:rPr>
              <a:t>Second meeting: what we heard and the demo</a:t>
            </a:r>
          </a:p>
        </p:txBody>
      </p:sp>
      <p:sp>
        <p:nvSpPr>
          <p:cNvPr id="9" name="Rectangle 8"/>
          <p:cNvSpPr/>
          <p:nvPr/>
        </p:nvSpPr>
        <p:spPr>
          <a:xfrm>
            <a:off x="731520" y="1783080"/>
            <a:ext cx="5303520" cy="205740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783080"/>
            <a:ext cx="530352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32688" y="203911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1</a:t>
            </a:r>
          </a:p>
        </p:txBody>
      </p:sp>
      <p:sp>
        <p:nvSpPr>
          <p:cNvPr id="12" name="TextBox 11"/>
          <p:cNvSpPr txBox="1"/>
          <p:nvPr/>
        </p:nvSpPr>
        <p:spPr>
          <a:xfrm>
            <a:off x="1481328" y="1984248"/>
            <a:ext cx="4370831" cy="548640"/>
          </a:xfrm>
          <a:prstGeom prst="rect">
            <a:avLst/>
          </a:prstGeom>
          <a:noFill/>
        </p:spPr>
        <p:txBody>
          <a:bodyPr wrap="square" lIns="45720" tIns="27432" rIns="45720" bIns="27432" anchor="ctr">
            <a:spAutoFit/>
          </a:bodyPr>
          <a:lstStyle/>
          <a:p>
            <a:pPr algn="l"/>
            <a:r>
              <a:rPr sz="1600" b="1">
                <a:solidFill>
                  <a:srgbClr val="F5F5F5"/>
                </a:solidFill>
                <a:latin typeface="Arial"/>
              </a:rPr>
              <a:t>Legacy systems hold the rules</a:t>
            </a:r>
          </a:p>
        </p:txBody>
      </p:sp>
      <p:sp>
        <p:nvSpPr>
          <p:cNvPr id="13" name="TextBox 12"/>
          <p:cNvSpPr txBox="1"/>
          <p:nvPr/>
        </p:nvSpPr>
        <p:spPr>
          <a:xfrm>
            <a:off x="960120" y="2651760"/>
            <a:ext cx="4846320" cy="1097280"/>
          </a:xfrm>
          <a:prstGeom prst="rect">
            <a:avLst/>
          </a:prstGeom>
          <a:noFill/>
        </p:spPr>
        <p:txBody>
          <a:bodyPr wrap="square" lIns="45720" tIns="27432" rIns="45720" bIns="27432" anchor="t">
            <a:spAutoFit/>
          </a:bodyPr>
          <a:lstStyle/>
          <a:p>
            <a:pPr algn="l">
              <a:spcAft>
                <a:spcPts val="400"/>
              </a:spcAft>
            </a:pPr>
            <a:r>
              <a:rPr sz="1400" b="0">
                <a:solidFill>
                  <a:srgbClr val="A3A3A3"/>
                </a:solidFill>
                <a:latin typeface="Arial"/>
              </a:rPr>
              <a:t>Green-screen Python applications carry decades of business logic inside the screen code. There is no spec, and few people dare to change them.</a:t>
            </a:r>
          </a:p>
        </p:txBody>
      </p:sp>
      <p:sp>
        <p:nvSpPr>
          <p:cNvPr id="14" name="Rectangle 13"/>
          <p:cNvSpPr/>
          <p:nvPr/>
        </p:nvSpPr>
        <p:spPr>
          <a:xfrm>
            <a:off x="6263640" y="1783080"/>
            <a:ext cx="5303520" cy="205740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783080"/>
            <a:ext cx="530352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64807" y="203911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2</a:t>
            </a:r>
          </a:p>
        </p:txBody>
      </p:sp>
      <p:sp>
        <p:nvSpPr>
          <p:cNvPr id="17" name="TextBox 16"/>
          <p:cNvSpPr txBox="1"/>
          <p:nvPr/>
        </p:nvSpPr>
        <p:spPr>
          <a:xfrm>
            <a:off x="7013448" y="1984248"/>
            <a:ext cx="4370831" cy="548640"/>
          </a:xfrm>
          <a:prstGeom prst="rect">
            <a:avLst/>
          </a:prstGeom>
          <a:noFill/>
        </p:spPr>
        <p:txBody>
          <a:bodyPr wrap="square" lIns="45720" tIns="27432" rIns="45720" bIns="27432" anchor="ctr">
            <a:spAutoFit/>
          </a:bodyPr>
          <a:lstStyle/>
          <a:p>
            <a:pPr algn="l"/>
            <a:r>
              <a:rPr sz="1600" b="1">
                <a:solidFill>
                  <a:srgbClr val="F5F5F5"/>
                </a:solidFill>
                <a:latin typeface="Arial"/>
              </a:rPr>
              <a:t>Move to modern Python and a modern UI</a:t>
            </a:r>
          </a:p>
        </p:txBody>
      </p:sp>
      <p:sp>
        <p:nvSpPr>
          <p:cNvPr id="18" name="TextBox 17"/>
          <p:cNvSpPr txBox="1"/>
          <p:nvPr/>
        </p:nvSpPr>
        <p:spPr>
          <a:xfrm>
            <a:off x="6492240" y="2651760"/>
            <a:ext cx="4846320" cy="1097280"/>
          </a:xfrm>
          <a:prstGeom prst="rect">
            <a:avLst/>
          </a:prstGeom>
          <a:noFill/>
        </p:spPr>
        <p:txBody>
          <a:bodyPr wrap="square" lIns="45720" tIns="27432" rIns="45720" bIns="27432" anchor="t">
            <a:spAutoFit/>
          </a:bodyPr>
          <a:lstStyle/>
          <a:p>
            <a:pPr algn="l">
              <a:spcAft>
                <a:spcPts val="400"/>
              </a:spcAft>
            </a:pPr>
            <a:r>
              <a:rPr sz="1400" b="0">
                <a:solidFill>
                  <a:srgbClr val="A3A3A3"/>
                </a:solidFill>
                <a:latin typeface="Arial"/>
              </a:rPr>
              <a:t>Migrate to a current Python stack with a web interface, without changing the way the business rules behave.</a:t>
            </a:r>
          </a:p>
        </p:txBody>
      </p:sp>
      <p:sp>
        <p:nvSpPr>
          <p:cNvPr id="19" name="Rectangle 18"/>
          <p:cNvSpPr/>
          <p:nvPr/>
        </p:nvSpPr>
        <p:spPr>
          <a:xfrm>
            <a:off x="731520" y="4023360"/>
            <a:ext cx="5303520" cy="205740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4023360"/>
            <a:ext cx="530352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32688" y="427939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3</a:t>
            </a:r>
          </a:p>
        </p:txBody>
      </p:sp>
      <p:sp>
        <p:nvSpPr>
          <p:cNvPr id="22" name="TextBox 21"/>
          <p:cNvSpPr txBox="1"/>
          <p:nvPr/>
        </p:nvSpPr>
        <p:spPr>
          <a:xfrm>
            <a:off x="1481328" y="4224528"/>
            <a:ext cx="4370831" cy="548640"/>
          </a:xfrm>
          <a:prstGeom prst="rect">
            <a:avLst/>
          </a:prstGeom>
          <a:noFill/>
        </p:spPr>
        <p:txBody>
          <a:bodyPr wrap="square" lIns="45720" tIns="27432" rIns="45720" bIns="27432" anchor="ctr">
            <a:spAutoFit/>
          </a:bodyPr>
          <a:lstStyle/>
          <a:p>
            <a:pPr algn="l"/>
            <a:r>
              <a:rPr sz="1600" b="1">
                <a:solidFill>
                  <a:srgbClr val="F5F5F5"/>
                </a:solidFill>
                <a:latin typeface="Arial"/>
              </a:rPr>
              <a:t>Many teams, one standard</a:t>
            </a:r>
          </a:p>
        </p:txBody>
      </p:sp>
      <p:sp>
        <p:nvSpPr>
          <p:cNvPr id="23" name="TextBox 22"/>
          <p:cNvSpPr txBox="1"/>
          <p:nvPr/>
        </p:nvSpPr>
        <p:spPr>
          <a:xfrm>
            <a:off x="960120" y="4892040"/>
            <a:ext cx="4846320" cy="1097280"/>
          </a:xfrm>
          <a:prstGeom prst="rect">
            <a:avLst/>
          </a:prstGeom>
          <a:noFill/>
        </p:spPr>
        <p:txBody>
          <a:bodyPr wrap="square" lIns="45720" tIns="27432" rIns="45720" bIns="27432" anchor="t">
            <a:spAutoFit/>
          </a:bodyPr>
          <a:lstStyle/>
          <a:p>
            <a:pPr algn="l">
              <a:spcAft>
                <a:spcPts val="400"/>
              </a:spcAft>
            </a:pPr>
            <a:r>
              <a:rPr sz="1400" b="0">
                <a:solidFill>
                  <a:srgbClr val="A3A3A3"/>
                </a:solidFill>
                <a:latin typeface="Arial"/>
              </a:rPr>
              <a:t>This is an enterprise with many teams. You want the same standards, guardrails and process for all of them, not a separate setup per team.</a:t>
            </a:r>
          </a:p>
        </p:txBody>
      </p:sp>
      <p:sp>
        <p:nvSpPr>
          <p:cNvPr id="24" name="Rectangle 23"/>
          <p:cNvSpPr/>
          <p:nvPr/>
        </p:nvSpPr>
        <p:spPr>
          <a:xfrm>
            <a:off x="6263640" y="4023360"/>
            <a:ext cx="5303520" cy="205740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63640" y="4023360"/>
            <a:ext cx="530352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464807" y="427939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4</a:t>
            </a:r>
          </a:p>
        </p:txBody>
      </p:sp>
      <p:sp>
        <p:nvSpPr>
          <p:cNvPr id="27" name="TextBox 26"/>
          <p:cNvSpPr txBox="1"/>
          <p:nvPr/>
        </p:nvSpPr>
        <p:spPr>
          <a:xfrm>
            <a:off x="7013448" y="4224528"/>
            <a:ext cx="4370831" cy="548640"/>
          </a:xfrm>
          <a:prstGeom prst="rect">
            <a:avLst/>
          </a:prstGeom>
          <a:noFill/>
        </p:spPr>
        <p:txBody>
          <a:bodyPr wrap="square" lIns="45720" tIns="27432" rIns="45720" bIns="27432" anchor="ctr">
            <a:spAutoFit/>
          </a:bodyPr>
          <a:lstStyle/>
          <a:p>
            <a:pPr algn="l"/>
            <a:r>
              <a:rPr sz="1600" b="1">
                <a:solidFill>
                  <a:srgbClr val="F5F5F5"/>
                </a:solidFill>
                <a:latin typeface="Arial"/>
              </a:rPr>
              <a:t>Control and proof</a:t>
            </a:r>
          </a:p>
        </p:txBody>
      </p:sp>
      <p:sp>
        <p:nvSpPr>
          <p:cNvPr id="28" name="TextBox 27"/>
          <p:cNvSpPr txBox="1"/>
          <p:nvPr/>
        </p:nvSpPr>
        <p:spPr>
          <a:xfrm>
            <a:off x="6492240" y="4892040"/>
            <a:ext cx="4846320" cy="1097280"/>
          </a:xfrm>
          <a:prstGeom prst="rect">
            <a:avLst/>
          </a:prstGeom>
          <a:noFill/>
        </p:spPr>
        <p:txBody>
          <a:bodyPr wrap="square" lIns="45720" tIns="27432" rIns="45720" bIns="27432" anchor="t">
            <a:spAutoFit/>
          </a:bodyPr>
          <a:lstStyle/>
          <a:p>
            <a:pPr algn="l">
              <a:spcAft>
                <a:spcPts val="400"/>
              </a:spcAft>
            </a:pPr>
            <a:r>
              <a:rPr sz="1400" b="0">
                <a:solidFill>
                  <a:srgbClr val="A3A3A3"/>
                </a:solidFill>
                <a:latin typeface="Arial"/>
              </a:rPr>
              <a:t>Leadership needs governance, visibility and bounded autonomy. Engineering needs evidence that the migrated system behaves like the old 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02920"/>
            <a:ext cx="73152" cy="868680"/>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9144000" cy="320040"/>
          </a:xfrm>
          <a:prstGeom prst="rect">
            <a:avLst/>
          </a:prstGeom>
          <a:noFill/>
        </p:spPr>
        <p:txBody>
          <a:bodyPr wrap="square" lIns="45720" tIns="27432" rIns="45720" bIns="27432" anchor="t">
            <a:spAutoFit/>
          </a:bodyPr>
          <a:lstStyle/>
          <a:p>
            <a:pPr algn="l"/>
            <a:r>
              <a:rPr sz="1200" b="1">
                <a:solidFill>
                  <a:srgbClr val="D15010"/>
                </a:solidFill>
                <a:latin typeface="Arial"/>
              </a:rPr>
              <a:t>CAPABILITIES MAPPED TO YOUR GOALS</a:t>
            </a:r>
          </a:p>
        </p:txBody>
      </p:sp>
      <p:sp>
        <p:nvSpPr>
          <p:cNvPr id="5" name="TextBox 4"/>
          <p:cNvSpPr txBox="1"/>
          <p:nvPr/>
        </p:nvSpPr>
        <p:spPr>
          <a:xfrm>
            <a:off x="731520" y="749808"/>
            <a:ext cx="10515600" cy="731520"/>
          </a:xfrm>
          <a:prstGeom prst="rect">
            <a:avLst/>
          </a:prstGeom>
          <a:noFill/>
        </p:spPr>
        <p:txBody>
          <a:bodyPr wrap="square" lIns="45720" tIns="27432" rIns="45720" bIns="27432" anchor="t">
            <a:spAutoFit/>
          </a:bodyPr>
          <a:lstStyle/>
          <a:p>
            <a:pPr algn="l"/>
            <a:r>
              <a:rPr sz="3200" b="1">
                <a:solidFill>
                  <a:srgbClr val="F5F5F5"/>
                </a:solidFill>
                <a:latin typeface="Arial"/>
              </a:rPr>
              <a:t>How Factory helps</a:t>
            </a:r>
          </a:p>
        </p:txBody>
      </p:sp>
      <p:pic>
        <p:nvPicPr>
          <p:cNvPr id="6" name="Picture 5" descr="logo_orange.png"/>
          <p:cNvPicPr>
            <a:picLocks noChangeAspect="1"/>
          </p:cNvPicPr>
          <p:nvPr/>
        </p:nvPicPr>
        <p:blipFill>
          <a:blip r:embed="rId3"/>
          <a:stretch>
            <a:fillRect/>
          </a:stretch>
        </p:blipFill>
        <p:spPr>
          <a:xfrm>
            <a:off x="11155680" y="457200"/>
            <a:ext cx="502920" cy="502920"/>
          </a:xfrm>
          <a:prstGeom prst="rect">
            <a:avLst/>
          </a:prstGeom>
        </p:spPr>
      </p:pic>
      <p:sp>
        <p:nvSpPr>
          <p:cNvPr id="7" name="TextBox 6"/>
          <p:cNvSpPr txBox="1"/>
          <p:nvPr/>
        </p:nvSpPr>
        <p:spPr>
          <a:xfrm>
            <a:off x="11155680" y="6400800"/>
            <a:ext cx="731520" cy="274320"/>
          </a:xfrm>
          <a:prstGeom prst="rect">
            <a:avLst/>
          </a:prstGeom>
          <a:noFill/>
        </p:spPr>
        <p:txBody>
          <a:bodyPr wrap="square" lIns="45720" tIns="27432" rIns="45720" bIns="27432" anchor="t">
            <a:spAutoFit/>
          </a:bodyPr>
          <a:lstStyle/>
          <a:p>
            <a:pPr algn="r"/>
            <a:r>
              <a:rPr sz="1000" b="0">
                <a:solidFill>
                  <a:srgbClr val="A3A3A3"/>
                </a:solidFill>
                <a:latin typeface="Arial"/>
              </a:rPr>
              <a:t>3</a:t>
            </a:r>
          </a:p>
        </p:txBody>
      </p:sp>
      <p:sp>
        <p:nvSpPr>
          <p:cNvPr id="8" name="TextBox 7"/>
          <p:cNvSpPr txBox="1"/>
          <p:nvPr/>
        </p:nvSpPr>
        <p:spPr>
          <a:xfrm>
            <a:off x="548640" y="6400800"/>
            <a:ext cx="5486400" cy="274320"/>
          </a:xfrm>
          <a:prstGeom prst="rect">
            <a:avLst/>
          </a:prstGeom>
          <a:noFill/>
        </p:spPr>
        <p:txBody>
          <a:bodyPr wrap="square" lIns="45720" tIns="27432" rIns="45720" bIns="27432" anchor="t">
            <a:spAutoFit/>
          </a:bodyPr>
          <a:lstStyle/>
          <a:p>
            <a:pPr algn="l"/>
            <a:r>
              <a:rPr sz="1000" b="0">
                <a:solidFill>
                  <a:srgbClr val="A3A3A3"/>
                </a:solidFill>
                <a:latin typeface="Arial"/>
              </a:rPr>
              <a:t>Second meeting: what we heard and the demo</a:t>
            </a:r>
          </a:p>
        </p:txBody>
      </p:sp>
      <p:sp>
        <p:nvSpPr>
          <p:cNvPr id="9" name="Rectangle 8"/>
          <p:cNvSpPr/>
          <p:nvPr/>
        </p:nvSpPr>
        <p:spPr>
          <a:xfrm>
            <a:off x="731520" y="1783080"/>
            <a:ext cx="3520440" cy="210312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783080"/>
            <a:ext cx="352044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1984248"/>
            <a:ext cx="3108960" cy="548640"/>
          </a:xfrm>
          <a:prstGeom prst="rect">
            <a:avLst/>
          </a:prstGeom>
          <a:noFill/>
        </p:spPr>
        <p:txBody>
          <a:bodyPr wrap="square" lIns="45720" tIns="27432" rIns="45720" bIns="27432" anchor="t">
            <a:spAutoFit/>
          </a:bodyPr>
          <a:lstStyle/>
          <a:p>
            <a:pPr algn="l"/>
            <a:r>
              <a:rPr sz="1600" b="1">
                <a:solidFill>
                  <a:srgbClr val="F5F5F5"/>
                </a:solidFill>
                <a:latin typeface="Arial"/>
              </a:rPr>
              <a:t>Know if you are ready</a:t>
            </a:r>
          </a:p>
        </p:txBody>
      </p:sp>
      <p:sp>
        <p:nvSpPr>
          <p:cNvPr id="12" name="TextBox 11"/>
          <p:cNvSpPr txBox="1"/>
          <p:nvPr/>
        </p:nvSpPr>
        <p:spPr>
          <a:xfrm>
            <a:off x="960120" y="2651760"/>
            <a:ext cx="3063240" cy="1142999"/>
          </a:xfrm>
          <a:prstGeom prst="rect">
            <a:avLst/>
          </a:prstGeom>
          <a:noFill/>
        </p:spPr>
        <p:txBody>
          <a:bodyPr wrap="square" lIns="45720" tIns="27432" rIns="45720" bIns="27432" anchor="t">
            <a:spAutoFit/>
          </a:bodyPr>
          <a:lstStyle/>
          <a:p>
            <a:pPr algn="l">
              <a:spcAft>
                <a:spcPts val="400"/>
              </a:spcAft>
            </a:pPr>
            <a:r>
              <a:rPr sz="1300" b="0">
                <a:solidFill>
                  <a:srgbClr val="A3A3A3"/>
                </a:solidFill>
                <a:latin typeface="Arial"/>
              </a:rPr>
              <a:t>Agent Readiness scores a repo and shows the gaps, such as missing tests, before work starts.</a:t>
            </a:r>
          </a:p>
        </p:txBody>
      </p:sp>
      <p:sp>
        <p:nvSpPr>
          <p:cNvPr id="13" name="Rectangle 12"/>
          <p:cNvSpPr/>
          <p:nvPr/>
        </p:nvSpPr>
        <p:spPr>
          <a:xfrm>
            <a:off x="4434840" y="1783080"/>
            <a:ext cx="3520440" cy="210312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34840" y="1783080"/>
            <a:ext cx="352044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63440" y="1984248"/>
            <a:ext cx="3108960" cy="548640"/>
          </a:xfrm>
          <a:prstGeom prst="rect">
            <a:avLst/>
          </a:prstGeom>
          <a:noFill/>
        </p:spPr>
        <p:txBody>
          <a:bodyPr wrap="square" lIns="45720" tIns="27432" rIns="45720" bIns="27432" anchor="t">
            <a:spAutoFit/>
          </a:bodyPr>
          <a:lstStyle/>
          <a:p>
            <a:pPr algn="l"/>
            <a:r>
              <a:rPr sz="1600" b="1">
                <a:solidFill>
                  <a:srgbClr val="F5F5F5"/>
                </a:solidFill>
                <a:latin typeface="Arial"/>
              </a:rPr>
              <a:t>Migrate in controlled steps</a:t>
            </a:r>
          </a:p>
        </p:txBody>
      </p:sp>
      <p:sp>
        <p:nvSpPr>
          <p:cNvPr id="16" name="TextBox 15"/>
          <p:cNvSpPr txBox="1"/>
          <p:nvPr/>
        </p:nvSpPr>
        <p:spPr>
          <a:xfrm>
            <a:off x="4663440" y="2651760"/>
            <a:ext cx="3063240" cy="1142999"/>
          </a:xfrm>
          <a:prstGeom prst="rect">
            <a:avLst/>
          </a:prstGeom>
          <a:noFill/>
        </p:spPr>
        <p:txBody>
          <a:bodyPr wrap="square" lIns="45720" tIns="27432" rIns="45720" bIns="27432" anchor="t">
            <a:spAutoFit/>
          </a:bodyPr>
          <a:lstStyle/>
          <a:p>
            <a:pPr algn="l">
              <a:spcAft>
                <a:spcPts val="400"/>
              </a:spcAft>
            </a:pPr>
            <a:r>
              <a:rPr sz="1300" b="0">
                <a:solidFill>
                  <a:srgbClr val="A3A3A3"/>
                </a:solidFill>
                <a:latin typeface="Arial"/>
              </a:rPr>
              <a:t>Missions turn a conversation into milestones with a human approval gate, and check the work against the running app.</a:t>
            </a:r>
          </a:p>
        </p:txBody>
      </p:sp>
      <p:sp>
        <p:nvSpPr>
          <p:cNvPr id="17" name="Rectangle 16"/>
          <p:cNvSpPr/>
          <p:nvPr/>
        </p:nvSpPr>
        <p:spPr>
          <a:xfrm>
            <a:off x="8138160" y="1783080"/>
            <a:ext cx="3520440" cy="210312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0" y="1783080"/>
            <a:ext cx="352044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66760" y="1984248"/>
            <a:ext cx="3108960" cy="548640"/>
          </a:xfrm>
          <a:prstGeom prst="rect">
            <a:avLst/>
          </a:prstGeom>
          <a:noFill/>
        </p:spPr>
        <p:txBody>
          <a:bodyPr wrap="square" lIns="45720" tIns="27432" rIns="45720" bIns="27432" anchor="t">
            <a:spAutoFit/>
          </a:bodyPr>
          <a:lstStyle/>
          <a:p>
            <a:pPr algn="l"/>
            <a:r>
              <a:rPr sz="1600" b="1">
                <a:solidFill>
                  <a:srgbClr val="F5F5F5"/>
                </a:solidFill>
                <a:latin typeface="Arial"/>
              </a:rPr>
              <a:t>Standardize across teams</a:t>
            </a:r>
          </a:p>
        </p:txBody>
      </p:sp>
      <p:sp>
        <p:nvSpPr>
          <p:cNvPr id="20" name="TextBox 19"/>
          <p:cNvSpPr txBox="1"/>
          <p:nvPr/>
        </p:nvSpPr>
        <p:spPr>
          <a:xfrm>
            <a:off x="8366760" y="2651760"/>
            <a:ext cx="3063240" cy="1142999"/>
          </a:xfrm>
          <a:prstGeom prst="rect">
            <a:avLst/>
          </a:prstGeom>
          <a:noFill/>
        </p:spPr>
        <p:txBody>
          <a:bodyPr wrap="square" lIns="45720" tIns="27432" rIns="45720" bIns="27432" anchor="t">
            <a:spAutoFit/>
          </a:bodyPr>
          <a:lstStyle/>
          <a:p>
            <a:pPr algn="l">
              <a:spcAft>
                <a:spcPts val="400"/>
              </a:spcAft>
            </a:pPr>
            <a:r>
              <a:rPr sz="1300" b="0">
                <a:solidFill>
                  <a:srgbClr val="A3A3A3"/>
                </a:solidFill>
                <a:latin typeface="Arial"/>
              </a:rPr>
              <a:t>AGENTS.md, skills, hooks, subagents, plugins and managed settings give every team the same rules.</a:t>
            </a:r>
          </a:p>
        </p:txBody>
      </p:sp>
      <p:sp>
        <p:nvSpPr>
          <p:cNvPr id="21" name="Rectangle 20"/>
          <p:cNvSpPr/>
          <p:nvPr/>
        </p:nvSpPr>
        <p:spPr>
          <a:xfrm>
            <a:off x="731520" y="4069080"/>
            <a:ext cx="3520440" cy="210312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1520" y="4069080"/>
            <a:ext cx="352044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 y="4270248"/>
            <a:ext cx="3108960" cy="548640"/>
          </a:xfrm>
          <a:prstGeom prst="rect">
            <a:avLst/>
          </a:prstGeom>
          <a:noFill/>
        </p:spPr>
        <p:txBody>
          <a:bodyPr wrap="square" lIns="45720" tIns="27432" rIns="45720" bIns="27432" anchor="t">
            <a:spAutoFit/>
          </a:bodyPr>
          <a:lstStyle/>
          <a:p>
            <a:pPr algn="l"/>
            <a:r>
              <a:rPr sz="1600" b="1">
                <a:solidFill>
                  <a:srgbClr val="F5F5F5"/>
                </a:solidFill>
                <a:latin typeface="Arial"/>
              </a:rPr>
              <a:t>Cover the whole lifecycle</a:t>
            </a:r>
          </a:p>
        </p:txBody>
      </p:sp>
      <p:sp>
        <p:nvSpPr>
          <p:cNvPr id="24" name="TextBox 23"/>
          <p:cNvSpPr txBox="1"/>
          <p:nvPr/>
        </p:nvSpPr>
        <p:spPr>
          <a:xfrm>
            <a:off x="960120" y="4937760"/>
            <a:ext cx="3063240" cy="1142999"/>
          </a:xfrm>
          <a:prstGeom prst="rect">
            <a:avLst/>
          </a:prstGeom>
          <a:noFill/>
        </p:spPr>
        <p:txBody>
          <a:bodyPr wrap="square" lIns="45720" tIns="27432" rIns="45720" bIns="27432" anchor="t">
            <a:spAutoFit/>
          </a:bodyPr>
          <a:lstStyle/>
          <a:p>
            <a:pPr algn="l">
              <a:spcAft>
                <a:spcPts val="400"/>
              </a:spcAft>
            </a:pPr>
            <a:r>
              <a:rPr sz="1300" b="0">
                <a:solidFill>
                  <a:srgbClr val="A3A3A3"/>
                </a:solidFill>
                <a:latin typeface="Arial"/>
              </a:rPr>
              <a:t>Software Factory: triage, code review, QA, security audit, release, AutoWiki docs and incident response (private preview).</a:t>
            </a:r>
          </a:p>
        </p:txBody>
      </p:sp>
      <p:sp>
        <p:nvSpPr>
          <p:cNvPr id="25" name="Rectangle 24"/>
          <p:cNvSpPr/>
          <p:nvPr/>
        </p:nvSpPr>
        <p:spPr>
          <a:xfrm>
            <a:off x="4434840" y="4069080"/>
            <a:ext cx="3520440" cy="210312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434840" y="4069080"/>
            <a:ext cx="352044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63440" y="4270248"/>
            <a:ext cx="3108960" cy="548640"/>
          </a:xfrm>
          <a:prstGeom prst="rect">
            <a:avLst/>
          </a:prstGeom>
          <a:noFill/>
        </p:spPr>
        <p:txBody>
          <a:bodyPr wrap="square" lIns="45720" tIns="27432" rIns="45720" bIns="27432" anchor="t">
            <a:spAutoFit/>
          </a:bodyPr>
          <a:lstStyle/>
          <a:p>
            <a:pPr algn="l"/>
            <a:r>
              <a:rPr sz="1600" b="1">
                <a:solidFill>
                  <a:srgbClr val="F5F5F5"/>
                </a:solidFill>
                <a:latin typeface="Arial"/>
              </a:rPr>
              <a:t>Govern and observe</a:t>
            </a:r>
          </a:p>
        </p:txBody>
      </p:sp>
      <p:sp>
        <p:nvSpPr>
          <p:cNvPr id="28" name="TextBox 27"/>
          <p:cNvSpPr txBox="1"/>
          <p:nvPr/>
        </p:nvSpPr>
        <p:spPr>
          <a:xfrm>
            <a:off x="4663440" y="4937760"/>
            <a:ext cx="3063240" cy="1142999"/>
          </a:xfrm>
          <a:prstGeom prst="rect">
            <a:avLst/>
          </a:prstGeom>
          <a:noFill/>
        </p:spPr>
        <p:txBody>
          <a:bodyPr wrap="square" lIns="45720" tIns="27432" rIns="45720" bIns="27432" anchor="t">
            <a:spAutoFit/>
          </a:bodyPr>
          <a:lstStyle/>
          <a:p>
            <a:pPr algn="l">
              <a:spcAft>
                <a:spcPts val="400"/>
              </a:spcAft>
            </a:pPr>
            <a:r>
              <a:rPr sz="1300" b="0">
                <a:solidFill>
                  <a:srgbClr val="A3A3A3"/>
                </a:solidFill>
                <a:latin typeface="Arial"/>
              </a:rPr>
              <a:t>Command policies, sandboxing, Droid Shield, MCP allowlists, and OpenTelemetry plus an analytics API.</a:t>
            </a:r>
          </a:p>
        </p:txBody>
      </p:sp>
      <p:sp>
        <p:nvSpPr>
          <p:cNvPr id="29" name="Rectangle 28"/>
          <p:cNvSpPr/>
          <p:nvPr/>
        </p:nvSpPr>
        <p:spPr>
          <a:xfrm>
            <a:off x="8138160" y="4069080"/>
            <a:ext cx="3520440" cy="210312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138160" y="4069080"/>
            <a:ext cx="352044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66760" y="4270248"/>
            <a:ext cx="3108960" cy="548640"/>
          </a:xfrm>
          <a:prstGeom prst="rect">
            <a:avLst/>
          </a:prstGeom>
          <a:noFill/>
        </p:spPr>
        <p:txBody>
          <a:bodyPr wrap="square" lIns="45720" tIns="27432" rIns="45720" bIns="27432" anchor="t">
            <a:spAutoFit/>
          </a:bodyPr>
          <a:lstStyle/>
          <a:p>
            <a:pPr algn="l"/>
            <a:r>
              <a:rPr sz="1600" b="1">
                <a:solidFill>
                  <a:srgbClr val="F5F5F5"/>
                </a:solidFill>
                <a:latin typeface="Arial"/>
              </a:rPr>
              <a:t>Run where you need it</a:t>
            </a:r>
          </a:p>
        </p:txBody>
      </p:sp>
      <p:sp>
        <p:nvSpPr>
          <p:cNvPr id="32" name="TextBox 31"/>
          <p:cNvSpPr txBox="1"/>
          <p:nvPr/>
        </p:nvSpPr>
        <p:spPr>
          <a:xfrm>
            <a:off x="8366760" y="4937760"/>
            <a:ext cx="3063240" cy="1142999"/>
          </a:xfrm>
          <a:prstGeom prst="rect">
            <a:avLst/>
          </a:prstGeom>
          <a:noFill/>
        </p:spPr>
        <p:txBody>
          <a:bodyPr wrap="square" lIns="45720" tIns="27432" rIns="45720" bIns="27432" anchor="t">
            <a:spAutoFit/>
          </a:bodyPr>
          <a:lstStyle/>
          <a:p>
            <a:pPr algn="l">
              <a:spcAft>
                <a:spcPts val="400"/>
              </a:spcAft>
            </a:pPr>
            <a:r>
              <a:rPr sz="1300" b="0">
                <a:solidFill>
                  <a:srgbClr val="A3A3A3"/>
                </a:solidFill>
                <a:latin typeface="Arial"/>
              </a:rPr>
              <a:t>Cloud, hybrid or air-gapped deployment, and model independence through admin-controlled models and gateways.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02920"/>
            <a:ext cx="73152" cy="868680"/>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9144000" cy="320040"/>
          </a:xfrm>
          <a:prstGeom prst="rect">
            <a:avLst/>
          </a:prstGeom>
          <a:noFill/>
        </p:spPr>
        <p:txBody>
          <a:bodyPr wrap="square" lIns="45720" tIns="27432" rIns="45720" bIns="27432" anchor="t">
            <a:spAutoFit/>
          </a:bodyPr>
          <a:lstStyle/>
          <a:p>
            <a:pPr algn="l"/>
            <a:r>
              <a:rPr sz="1200" b="1">
                <a:solidFill>
                  <a:srgbClr val="D15010"/>
                </a:solidFill>
                <a:latin typeface="Arial"/>
              </a:rPr>
              <a:t>BEYOND A FASTER PORT</a:t>
            </a:r>
          </a:p>
        </p:txBody>
      </p:sp>
      <p:sp>
        <p:nvSpPr>
          <p:cNvPr id="5" name="TextBox 4"/>
          <p:cNvSpPr txBox="1"/>
          <p:nvPr/>
        </p:nvSpPr>
        <p:spPr>
          <a:xfrm>
            <a:off x="731520" y="749808"/>
            <a:ext cx="10515600" cy="731520"/>
          </a:xfrm>
          <a:prstGeom prst="rect">
            <a:avLst/>
          </a:prstGeom>
          <a:noFill/>
        </p:spPr>
        <p:txBody>
          <a:bodyPr wrap="square" lIns="45720" tIns="27432" rIns="45720" bIns="27432" anchor="t">
            <a:spAutoFit/>
          </a:bodyPr>
          <a:lstStyle/>
          <a:p>
            <a:pPr algn="l"/>
            <a:r>
              <a:rPr sz="3200" b="1">
                <a:solidFill>
                  <a:srgbClr val="F5F5F5"/>
                </a:solidFill>
                <a:latin typeface="Arial"/>
              </a:rPr>
              <a:t>What makes Factory different</a:t>
            </a:r>
          </a:p>
        </p:txBody>
      </p:sp>
      <p:pic>
        <p:nvPicPr>
          <p:cNvPr id="6" name="Picture 5" descr="logo_orange.png"/>
          <p:cNvPicPr>
            <a:picLocks noChangeAspect="1"/>
          </p:cNvPicPr>
          <p:nvPr/>
        </p:nvPicPr>
        <p:blipFill>
          <a:blip r:embed="rId3"/>
          <a:stretch>
            <a:fillRect/>
          </a:stretch>
        </p:blipFill>
        <p:spPr>
          <a:xfrm>
            <a:off x="11155680" y="457200"/>
            <a:ext cx="502920" cy="502920"/>
          </a:xfrm>
          <a:prstGeom prst="rect">
            <a:avLst/>
          </a:prstGeom>
        </p:spPr>
      </p:pic>
      <p:sp>
        <p:nvSpPr>
          <p:cNvPr id="7" name="TextBox 6"/>
          <p:cNvSpPr txBox="1"/>
          <p:nvPr/>
        </p:nvSpPr>
        <p:spPr>
          <a:xfrm>
            <a:off x="11155680" y="6400800"/>
            <a:ext cx="731520" cy="274320"/>
          </a:xfrm>
          <a:prstGeom prst="rect">
            <a:avLst/>
          </a:prstGeom>
          <a:noFill/>
        </p:spPr>
        <p:txBody>
          <a:bodyPr wrap="square" lIns="45720" tIns="27432" rIns="45720" bIns="27432" anchor="t">
            <a:spAutoFit/>
          </a:bodyPr>
          <a:lstStyle/>
          <a:p>
            <a:pPr algn="r"/>
            <a:r>
              <a:rPr sz="1000" b="0">
                <a:solidFill>
                  <a:srgbClr val="A3A3A3"/>
                </a:solidFill>
                <a:latin typeface="Arial"/>
              </a:rPr>
              <a:t>4</a:t>
            </a:r>
          </a:p>
        </p:txBody>
      </p:sp>
      <p:sp>
        <p:nvSpPr>
          <p:cNvPr id="8" name="TextBox 7"/>
          <p:cNvSpPr txBox="1"/>
          <p:nvPr/>
        </p:nvSpPr>
        <p:spPr>
          <a:xfrm>
            <a:off x="548640" y="6400800"/>
            <a:ext cx="5486400" cy="274320"/>
          </a:xfrm>
          <a:prstGeom prst="rect">
            <a:avLst/>
          </a:prstGeom>
          <a:noFill/>
        </p:spPr>
        <p:txBody>
          <a:bodyPr wrap="square" lIns="45720" tIns="27432" rIns="45720" bIns="27432" anchor="t">
            <a:spAutoFit/>
          </a:bodyPr>
          <a:lstStyle/>
          <a:p>
            <a:pPr algn="l"/>
            <a:r>
              <a:rPr sz="1000" b="0">
                <a:solidFill>
                  <a:srgbClr val="A3A3A3"/>
                </a:solidFill>
                <a:latin typeface="Arial"/>
              </a:rPr>
              <a:t>Second meeting: what we heard and the demo</a:t>
            </a:r>
          </a:p>
        </p:txBody>
      </p:sp>
      <p:sp>
        <p:nvSpPr>
          <p:cNvPr id="9" name="Rectangle 8"/>
          <p:cNvSpPr/>
          <p:nvPr/>
        </p:nvSpPr>
        <p:spPr>
          <a:xfrm>
            <a:off x="731520" y="1783080"/>
            <a:ext cx="5303520" cy="205740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783080"/>
            <a:ext cx="530352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32688" y="203911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1</a:t>
            </a:r>
          </a:p>
        </p:txBody>
      </p:sp>
      <p:sp>
        <p:nvSpPr>
          <p:cNvPr id="12" name="TextBox 11"/>
          <p:cNvSpPr txBox="1"/>
          <p:nvPr/>
        </p:nvSpPr>
        <p:spPr>
          <a:xfrm>
            <a:off x="1481328" y="1984248"/>
            <a:ext cx="4370831" cy="548640"/>
          </a:xfrm>
          <a:prstGeom prst="rect">
            <a:avLst/>
          </a:prstGeom>
          <a:noFill/>
        </p:spPr>
        <p:txBody>
          <a:bodyPr wrap="square" lIns="45720" tIns="27432" rIns="45720" bIns="27432" anchor="ctr">
            <a:spAutoFit/>
          </a:bodyPr>
          <a:lstStyle/>
          <a:p>
            <a:pPr algn="l"/>
            <a:r>
              <a:rPr sz="1600" b="1">
                <a:solidFill>
                  <a:srgbClr val="F5F5F5"/>
                </a:solidFill>
                <a:latin typeface="Arial"/>
              </a:rPr>
              <a:t>Orchestration built for big changes</a:t>
            </a:r>
          </a:p>
        </p:txBody>
      </p:sp>
      <p:sp>
        <p:nvSpPr>
          <p:cNvPr id="13" name="TextBox 12"/>
          <p:cNvSpPr txBox="1"/>
          <p:nvPr/>
        </p:nvSpPr>
        <p:spPr>
          <a:xfrm>
            <a:off x="960120" y="2651760"/>
            <a:ext cx="4846320" cy="1097280"/>
          </a:xfrm>
          <a:prstGeom prst="rect">
            <a:avLst/>
          </a:prstGeom>
          <a:noFill/>
        </p:spPr>
        <p:txBody>
          <a:bodyPr wrap="square" lIns="45720" tIns="27432" rIns="45720" bIns="27432" anchor="t">
            <a:spAutoFit/>
          </a:bodyPr>
          <a:lstStyle/>
          <a:p>
            <a:pPr algn="l">
              <a:spcAft>
                <a:spcPts val="400"/>
              </a:spcAft>
            </a:pPr>
            <a:r>
              <a:rPr sz="1400" b="0">
                <a:solidFill>
                  <a:srgbClr val="A3A3A3"/>
                </a:solidFill>
                <a:latin typeface="Arial"/>
              </a:rPr>
              <a:t>Missions plan with you, split work into milestones, run workers in parallel and check each feature like a user would.</a:t>
            </a:r>
          </a:p>
        </p:txBody>
      </p:sp>
      <p:sp>
        <p:nvSpPr>
          <p:cNvPr id="14" name="Rectangle 13"/>
          <p:cNvSpPr/>
          <p:nvPr/>
        </p:nvSpPr>
        <p:spPr>
          <a:xfrm>
            <a:off x="6263640" y="1783080"/>
            <a:ext cx="5303520" cy="205740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783080"/>
            <a:ext cx="530352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64807" y="203911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2</a:t>
            </a:r>
          </a:p>
        </p:txBody>
      </p:sp>
      <p:sp>
        <p:nvSpPr>
          <p:cNvPr id="17" name="TextBox 16"/>
          <p:cNvSpPr txBox="1"/>
          <p:nvPr/>
        </p:nvSpPr>
        <p:spPr>
          <a:xfrm>
            <a:off x="7013448" y="1984248"/>
            <a:ext cx="4370831" cy="548640"/>
          </a:xfrm>
          <a:prstGeom prst="rect">
            <a:avLst/>
          </a:prstGeom>
          <a:noFill/>
        </p:spPr>
        <p:txBody>
          <a:bodyPr wrap="square" lIns="45720" tIns="27432" rIns="45720" bIns="27432" anchor="ctr">
            <a:spAutoFit/>
          </a:bodyPr>
          <a:lstStyle/>
          <a:p>
            <a:pPr algn="l"/>
            <a:r>
              <a:rPr sz="1600" b="1">
                <a:solidFill>
                  <a:srgbClr val="F5F5F5"/>
                </a:solidFill>
                <a:latin typeface="Arial"/>
              </a:rPr>
              <a:t>The lifecycle comes packaged</a:t>
            </a:r>
          </a:p>
        </p:txBody>
      </p:sp>
      <p:sp>
        <p:nvSpPr>
          <p:cNvPr id="18" name="TextBox 17"/>
          <p:cNvSpPr txBox="1"/>
          <p:nvPr/>
        </p:nvSpPr>
        <p:spPr>
          <a:xfrm>
            <a:off x="6492240" y="2651760"/>
            <a:ext cx="4846320" cy="1097280"/>
          </a:xfrm>
          <a:prstGeom prst="rect">
            <a:avLst/>
          </a:prstGeom>
          <a:noFill/>
        </p:spPr>
        <p:txBody>
          <a:bodyPr wrap="square" lIns="45720" tIns="27432" rIns="45720" bIns="27432" anchor="t">
            <a:spAutoFit/>
          </a:bodyPr>
          <a:lstStyle/>
          <a:p>
            <a:pPr algn="l">
              <a:spcAft>
                <a:spcPts val="400"/>
              </a:spcAft>
            </a:pPr>
            <a:r>
              <a:rPr sz="1400" b="0">
                <a:solidFill>
                  <a:srgbClr val="A3A3A3"/>
                </a:solidFill>
                <a:latin typeface="Arial"/>
              </a:rPr>
              <a:t>Intake, validation, release, documentation and monitoring sit on one coverage map, instead of being assembled team by team.</a:t>
            </a:r>
          </a:p>
        </p:txBody>
      </p:sp>
      <p:sp>
        <p:nvSpPr>
          <p:cNvPr id="19" name="Rectangle 18"/>
          <p:cNvSpPr/>
          <p:nvPr/>
        </p:nvSpPr>
        <p:spPr>
          <a:xfrm>
            <a:off x="731520" y="4023360"/>
            <a:ext cx="5303520" cy="205740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4023360"/>
            <a:ext cx="530352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32688" y="427939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3</a:t>
            </a:r>
          </a:p>
        </p:txBody>
      </p:sp>
      <p:sp>
        <p:nvSpPr>
          <p:cNvPr id="22" name="TextBox 21"/>
          <p:cNvSpPr txBox="1"/>
          <p:nvPr/>
        </p:nvSpPr>
        <p:spPr>
          <a:xfrm>
            <a:off x="1481328" y="4224528"/>
            <a:ext cx="4370831" cy="548640"/>
          </a:xfrm>
          <a:prstGeom prst="rect">
            <a:avLst/>
          </a:prstGeom>
          <a:noFill/>
        </p:spPr>
        <p:txBody>
          <a:bodyPr wrap="square" lIns="45720" tIns="27432" rIns="45720" bIns="27432" anchor="ctr">
            <a:spAutoFit/>
          </a:bodyPr>
          <a:lstStyle/>
          <a:p>
            <a:pPr algn="l"/>
            <a:r>
              <a:rPr sz="1600" b="1">
                <a:solidFill>
                  <a:srgbClr val="F5F5F5"/>
                </a:solidFill>
                <a:latin typeface="Arial"/>
              </a:rPr>
              <a:t>Your control, your environment</a:t>
            </a:r>
          </a:p>
        </p:txBody>
      </p:sp>
      <p:sp>
        <p:nvSpPr>
          <p:cNvPr id="23" name="TextBox 22"/>
          <p:cNvSpPr txBox="1"/>
          <p:nvPr/>
        </p:nvSpPr>
        <p:spPr>
          <a:xfrm>
            <a:off x="960120" y="4892040"/>
            <a:ext cx="4846320" cy="1097280"/>
          </a:xfrm>
          <a:prstGeom prst="rect">
            <a:avLst/>
          </a:prstGeom>
          <a:noFill/>
        </p:spPr>
        <p:txBody>
          <a:bodyPr wrap="square" lIns="45720" tIns="27432" rIns="45720" bIns="27432" anchor="t">
            <a:spAutoFit/>
          </a:bodyPr>
          <a:lstStyle/>
          <a:p>
            <a:pPr algn="l">
              <a:spcAft>
                <a:spcPts val="400"/>
              </a:spcAft>
            </a:pPr>
            <a:r>
              <a:rPr sz="1400" b="0">
                <a:solidFill>
                  <a:srgbClr val="A3A3A3"/>
                </a:solidFill>
                <a:latin typeface="Arial"/>
              </a:rPr>
              <a:t>Code stays local unless you choose a model or gateway. Droid can run in the cloud, on premises or air-gapped, with approved models.</a:t>
            </a:r>
          </a:p>
        </p:txBody>
      </p:sp>
      <p:sp>
        <p:nvSpPr>
          <p:cNvPr id="24" name="Rectangle 23"/>
          <p:cNvSpPr/>
          <p:nvPr/>
        </p:nvSpPr>
        <p:spPr>
          <a:xfrm>
            <a:off x="6263640" y="4023360"/>
            <a:ext cx="5303520" cy="205740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63640" y="4023360"/>
            <a:ext cx="530352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464807" y="427939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4</a:t>
            </a:r>
          </a:p>
        </p:txBody>
      </p:sp>
      <p:sp>
        <p:nvSpPr>
          <p:cNvPr id="27" name="TextBox 26"/>
          <p:cNvSpPr txBox="1"/>
          <p:nvPr/>
        </p:nvSpPr>
        <p:spPr>
          <a:xfrm>
            <a:off x="7013448" y="4224528"/>
            <a:ext cx="4370831" cy="548640"/>
          </a:xfrm>
          <a:prstGeom prst="rect">
            <a:avLst/>
          </a:prstGeom>
          <a:noFill/>
        </p:spPr>
        <p:txBody>
          <a:bodyPr wrap="square" lIns="45720" tIns="27432" rIns="45720" bIns="27432" anchor="ctr">
            <a:spAutoFit/>
          </a:bodyPr>
          <a:lstStyle/>
          <a:p>
            <a:pPr algn="l"/>
            <a:r>
              <a:rPr sz="1600" b="1">
                <a:solidFill>
                  <a:srgbClr val="F5F5F5"/>
                </a:solidFill>
                <a:latin typeface="Arial"/>
              </a:rPr>
              <a:t>Governance is part of the product</a:t>
            </a:r>
          </a:p>
        </p:txBody>
      </p:sp>
      <p:sp>
        <p:nvSpPr>
          <p:cNvPr id="28" name="TextBox 27"/>
          <p:cNvSpPr txBox="1"/>
          <p:nvPr/>
        </p:nvSpPr>
        <p:spPr>
          <a:xfrm>
            <a:off x="6492240" y="4892040"/>
            <a:ext cx="4846320" cy="1097280"/>
          </a:xfrm>
          <a:prstGeom prst="rect">
            <a:avLst/>
          </a:prstGeom>
          <a:noFill/>
        </p:spPr>
        <p:txBody>
          <a:bodyPr wrap="square" lIns="45720" tIns="27432" rIns="45720" bIns="27432" anchor="t">
            <a:spAutoFit/>
          </a:bodyPr>
          <a:lstStyle/>
          <a:p>
            <a:pPr algn="l">
              <a:spcAft>
                <a:spcPts val="400"/>
              </a:spcAft>
            </a:pPr>
            <a:r>
              <a:rPr sz="1400" b="0">
                <a:solidFill>
                  <a:srgbClr val="A3A3A3"/>
                </a:solidFill>
                <a:latin typeface="Arial"/>
              </a:rPr>
              <a:t>Policy, sandboxing and telemetry are set centrally, so autonomy stays bounded and every action can be observed.</a:t>
            </a:r>
          </a:p>
        </p:txBody>
      </p:sp>
      <p:sp>
        <p:nvSpPr>
          <p:cNvPr id="29" name="TextBox 28"/>
          <p:cNvSpPr txBox="1"/>
          <p:nvPr/>
        </p:nvSpPr>
        <p:spPr>
          <a:xfrm>
            <a:off x="731520" y="5989320"/>
            <a:ext cx="10698480" cy="365760"/>
          </a:xfrm>
          <a:prstGeom prst="rect">
            <a:avLst/>
          </a:prstGeom>
          <a:noFill/>
        </p:spPr>
        <p:txBody>
          <a:bodyPr wrap="square" lIns="45720" tIns="27432" rIns="45720" bIns="27432" anchor="t">
            <a:spAutoFit/>
          </a:bodyPr>
          <a:lstStyle/>
          <a:p>
            <a:pPr algn="l"/>
            <a:r>
              <a:rPr sz="1300" b="1">
                <a:solidFill>
                  <a:srgbClr val="D15010"/>
                </a:solidFill>
                <a:latin typeface="Arial"/>
              </a:rPr>
              <a:t>The difference is not any single feature. It is a governed, org-wide default that you can measure.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02920"/>
            <a:ext cx="73152" cy="868680"/>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9144000" cy="320040"/>
          </a:xfrm>
          <a:prstGeom prst="rect">
            <a:avLst/>
          </a:prstGeom>
          <a:noFill/>
        </p:spPr>
        <p:txBody>
          <a:bodyPr wrap="square" lIns="45720" tIns="27432" rIns="45720" bIns="27432" anchor="t">
            <a:spAutoFit/>
          </a:bodyPr>
          <a:lstStyle/>
          <a:p>
            <a:pPr algn="l"/>
            <a:r>
              <a:rPr sz="1200" b="1">
                <a:solidFill>
                  <a:srgbClr val="D15010"/>
                </a:solidFill>
                <a:latin typeface="Arial"/>
              </a:rPr>
              <a:t>CUSTOMER-REPORTED RESULTS</a:t>
            </a:r>
          </a:p>
        </p:txBody>
      </p:sp>
      <p:sp>
        <p:nvSpPr>
          <p:cNvPr id="5" name="TextBox 4"/>
          <p:cNvSpPr txBox="1"/>
          <p:nvPr/>
        </p:nvSpPr>
        <p:spPr>
          <a:xfrm>
            <a:off x="731520" y="749808"/>
            <a:ext cx="10515600" cy="731520"/>
          </a:xfrm>
          <a:prstGeom prst="rect">
            <a:avLst/>
          </a:prstGeom>
          <a:noFill/>
        </p:spPr>
        <p:txBody>
          <a:bodyPr wrap="square" lIns="45720" tIns="27432" rIns="45720" bIns="27432" anchor="t">
            <a:spAutoFit/>
          </a:bodyPr>
          <a:lstStyle/>
          <a:p>
            <a:pPr algn="l"/>
            <a:r>
              <a:rPr sz="3200" b="1">
                <a:solidFill>
                  <a:srgbClr val="F5F5F5"/>
                </a:solidFill>
                <a:latin typeface="Arial"/>
              </a:rPr>
              <a:t>Success stories</a:t>
            </a:r>
          </a:p>
        </p:txBody>
      </p:sp>
      <p:pic>
        <p:nvPicPr>
          <p:cNvPr id="6" name="Picture 5" descr="logo_orange.png"/>
          <p:cNvPicPr>
            <a:picLocks noChangeAspect="1"/>
          </p:cNvPicPr>
          <p:nvPr/>
        </p:nvPicPr>
        <p:blipFill>
          <a:blip r:embed="rId3"/>
          <a:stretch>
            <a:fillRect/>
          </a:stretch>
        </p:blipFill>
        <p:spPr>
          <a:xfrm>
            <a:off x="11155680" y="457200"/>
            <a:ext cx="502920" cy="502920"/>
          </a:xfrm>
          <a:prstGeom prst="rect">
            <a:avLst/>
          </a:prstGeom>
        </p:spPr>
      </p:pic>
      <p:sp>
        <p:nvSpPr>
          <p:cNvPr id="7" name="TextBox 6"/>
          <p:cNvSpPr txBox="1"/>
          <p:nvPr/>
        </p:nvSpPr>
        <p:spPr>
          <a:xfrm>
            <a:off x="11155680" y="6400800"/>
            <a:ext cx="731520" cy="274320"/>
          </a:xfrm>
          <a:prstGeom prst="rect">
            <a:avLst/>
          </a:prstGeom>
          <a:noFill/>
        </p:spPr>
        <p:txBody>
          <a:bodyPr wrap="square" lIns="45720" tIns="27432" rIns="45720" bIns="27432" anchor="t">
            <a:spAutoFit/>
          </a:bodyPr>
          <a:lstStyle/>
          <a:p>
            <a:pPr algn="r"/>
            <a:r>
              <a:rPr sz="1000" b="0">
                <a:solidFill>
                  <a:srgbClr val="A3A3A3"/>
                </a:solidFill>
                <a:latin typeface="Arial"/>
              </a:rPr>
              <a:t>5</a:t>
            </a:r>
          </a:p>
        </p:txBody>
      </p:sp>
      <p:sp>
        <p:nvSpPr>
          <p:cNvPr id="8" name="TextBox 7"/>
          <p:cNvSpPr txBox="1"/>
          <p:nvPr/>
        </p:nvSpPr>
        <p:spPr>
          <a:xfrm>
            <a:off x="548640" y="6400800"/>
            <a:ext cx="5486400" cy="274320"/>
          </a:xfrm>
          <a:prstGeom prst="rect">
            <a:avLst/>
          </a:prstGeom>
          <a:noFill/>
        </p:spPr>
        <p:txBody>
          <a:bodyPr wrap="square" lIns="45720" tIns="27432" rIns="45720" bIns="27432" anchor="t">
            <a:spAutoFit/>
          </a:bodyPr>
          <a:lstStyle/>
          <a:p>
            <a:pPr algn="l"/>
            <a:r>
              <a:rPr sz="1000" b="0">
                <a:solidFill>
                  <a:srgbClr val="A3A3A3"/>
                </a:solidFill>
                <a:latin typeface="Arial"/>
              </a:rPr>
              <a:t>Second meeting: what we heard and the demo</a:t>
            </a:r>
          </a:p>
        </p:txBody>
      </p:sp>
      <p:sp>
        <p:nvSpPr>
          <p:cNvPr id="9" name="Rectangle 8"/>
          <p:cNvSpPr/>
          <p:nvPr/>
        </p:nvSpPr>
        <p:spPr>
          <a:xfrm>
            <a:off x="731520" y="1783080"/>
            <a:ext cx="2651760" cy="402336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783080"/>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965960"/>
            <a:ext cx="2286000" cy="411480"/>
          </a:xfrm>
          <a:prstGeom prst="rect">
            <a:avLst/>
          </a:prstGeom>
          <a:noFill/>
        </p:spPr>
        <p:txBody>
          <a:bodyPr wrap="square" lIns="45720" tIns="27432" rIns="45720" bIns="27432" anchor="t">
            <a:spAutoFit/>
          </a:bodyPr>
          <a:lstStyle/>
          <a:p>
            <a:pPr algn="l"/>
            <a:r>
              <a:rPr sz="2000" b="1">
                <a:solidFill>
                  <a:srgbClr val="F5F5F5"/>
                </a:solidFill>
                <a:latin typeface="Arial"/>
              </a:rPr>
              <a:t>Blackstone</a:t>
            </a:r>
          </a:p>
        </p:txBody>
      </p:sp>
      <p:sp>
        <p:nvSpPr>
          <p:cNvPr id="12" name="TextBox 11"/>
          <p:cNvSpPr txBox="1"/>
          <p:nvPr/>
        </p:nvSpPr>
        <p:spPr>
          <a:xfrm>
            <a:off x="914400" y="2377440"/>
            <a:ext cx="2286000" cy="365760"/>
          </a:xfrm>
          <a:prstGeom prst="rect">
            <a:avLst/>
          </a:prstGeom>
          <a:noFill/>
        </p:spPr>
        <p:txBody>
          <a:bodyPr wrap="square" lIns="45720" tIns="27432" rIns="45720" bIns="27432" anchor="t">
            <a:spAutoFit/>
          </a:bodyPr>
          <a:lstStyle/>
          <a:p>
            <a:pPr algn="l"/>
            <a:r>
              <a:rPr sz="1100" b="1">
                <a:solidFill>
                  <a:srgbClr val="D15010"/>
                </a:solidFill>
                <a:latin typeface="Arial"/>
              </a:rPr>
              <a:t>Asset manager</a:t>
            </a:r>
          </a:p>
        </p:txBody>
      </p:sp>
      <p:sp>
        <p:nvSpPr>
          <p:cNvPr id="13" name="TextBox 12"/>
          <p:cNvSpPr txBox="1"/>
          <p:nvPr/>
        </p:nvSpPr>
        <p:spPr>
          <a:xfrm>
            <a:off x="914400" y="2834640"/>
            <a:ext cx="2286000" cy="2926080"/>
          </a:xfrm>
          <a:prstGeom prst="rect">
            <a:avLst/>
          </a:prstGeom>
          <a:noFill/>
        </p:spPr>
        <p:txBody>
          <a:bodyPr wrap="square" lIns="45720" tIns="27432" rIns="45720" bIns="27432" anchor="t">
            <a:spAutoFit/>
          </a:bodyPr>
          <a:lstStyle/>
          <a:p>
            <a:pPr algn="l">
              <a:spcAft>
                <a:spcPts val="1000"/>
              </a:spcAft>
            </a:pPr>
            <a:r>
              <a:rPr sz="1300" b="0">
                <a:solidFill>
                  <a:srgbClr val="F5F5F5"/>
                </a:solidFill>
                <a:latin typeface="Arial"/>
              </a:rPr>
              <a:t>Needed agents to run inside its own data center and no dependence on one model vendor.</a:t>
            </a:r>
          </a:p>
          <a:p>
            <a:pPr algn="l">
              <a:spcAft>
                <a:spcPts val="1000"/>
              </a:spcAft>
            </a:pPr>
            <a:r>
              <a:rPr sz="1300" b="0">
                <a:solidFill>
                  <a:srgbClr val="F5F5F5"/>
                </a:solidFill>
                <a:latin typeface="Arial"/>
              </a:rPr>
              <a:t>Onboarding a new developer went “from up to two weeks to minutes.”</a:t>
            </a:r>
          </a:p>
        </p:txBody>
      </p:sp>
      <p:sp>
        <p:nvSpPr>
          <p:cNvPr id="14" name="Rectangle 13"/>
          <p:cNvSpPr/>
          <p:nvPr/>
        </p:nvSpPr>
        <p:spPr>
          <a:xfrm>
            <a:off x="3520439" y="1783080"/>
            <a:ext cx="2651760" cy="402336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520439" y="1783080"/>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03320" y="1965960"/>
            <a:ext cx="2286000" cy="411480"/>
          </a:xfrm>
          <a:prstGeom prst="rect">
            <a:avLst/>
          </a:prstGeom>
          <a:noFill/>
        </p:spPr>
        <p:txBody>
          <a:bodyPr wrap="square" lIns="45720" tIns="27432" rIns="45720" bIns="27432" anchor="t">
            <a:spAutoFit/>
          </a:bodyPr>
          <a:lstStyle/>
          <a:p>
            <a:pPr algn="l"/>
            <a:r>
              <a:rPr sz="2000" b="1">
                <a:solidFill>
                  <a:srgbClr val="F5F5F5"/>
                </a:solidFill>
                <a:latin typeface="Arial"/>
              </a:rPr>
              <a:t>Comarch</a:t>
            </a:r>
          </a:p>
        </p:txBody>
      </p:sp>
      <p:sp>
        <p:nvSpPr>
          <p:cNvPr id="17" name="TextBox 16"/>
          <p:cNvSpPr txBox="1"/>
          <p:nvPr/>
        </p:nvSpPr>
        <p:spPr>
          <a:xfrm>
            <a:off x="3703320" y="2377440"/>
            <a:ext cx="2286000" cy="365760"/>
          </a:xfrm>
          <a:prstGeom prst="rect">
            <a:avLst/>
          </a:prstGeom>
          <a:noFill/>
        </p:spPr>
        <p:txBody>
          <a:bodyPr wrap="square" lIns="45720" tIns="27432" rIns="45720" bIns="27432" anchor="t">
            <a:spAutoFit/>
          </a:bodyPr>
          <a:lstStyle/>
          <a:p>
            <a:pPr algn="l"/>
            <a:r>
              <a:rPr sz="1100" b="1">
                <a:solidFill>
                  <a:srgbClr val="D15010"/>
                </a:solidFill>
                <a:latin typeface="Arial"/>
              </a:rPr>
              <a:t>IT services, 5,000 specialists</a:t>
            </a:r>
          </a:p>
        </p:txBody>
      </p:sp>
      <p:sp>
        <p:nvSpPr>
          <p:cNvPr id="18" name="TextBox 17"/>
          <p:cNvSpPr txBox="1"/>
          <p:nvPr/>
        </p:nvSpPr>
        <p:spPr>
          <a:xfrm>
            <a:off x="3703320" y="2834640"/>
            <a:ext cx="2286000" cy="2926080"/>
          </a:xfrm>
          <a:prstGeom prst="rect">
            <a:avLst/>
          </a:prstGeom>
          <a:noFill/>
        </p:spPr>
        <p:txBody>
          <a:bodyPr wrap="square" lIns="45720" tIns="27432" rIns="45720" bIns="27432" anchor="t">
            <a:spAutoFit/>
          </a:bodyPr>
          <a:lstStyle/>
          <a:p>
            <a:pPr algn="l">
              <a:spcAft>
                <a:spcPts val="1000"/>
              </a:spcAft>
            </a:pPr>
            <a:r>
              <a:rPr sz="1300" b="0">
                <a:solidFill>
                  <a:srgbClr val="F5F5F5"/>
                </a:solidFill>
                <a:latin typeface="Arial"/>
              </a:rPr>
              <a:t>Scoped XSLT modernization: “10,000 man days” estimated, completed “in 45 days.”</a:t>
            </a:r>
          </a:p>
          <a:p>
            <a:pPr algn="l">
              <a:spcAft>
                <a:spcPts val="1000"/>
              </a:spcAft>
            </a:pPr>
            <a:r>
              <a:rPr sz="1300" b="0">
                <a:solidFill>
                  <a:srgbClr val="F5F5F5"/>
                </a:solidFill>
                <a:latin typeface="Arial"/>
              </a:rPr>
              <a:t>Database migration scoped at “45 days,” completed by a Factory mission “in 6 hours.”</a:t>
            </a:r>
          </a:p>
        </p:txBody>
      </p:sp>
      <p:sp>
        <p:nvSpPr>
          <p:cNvPr id="19" name="Rectangle 18"/>
          <p:cNvSpPr/>
          <p:nvPr/>
        </p:nvSpPr>
        <p:spPr>
          <a:xfrm>
            <a:off x="6309359" y="1783080"/>
            <a:ext cx="2651760" cy="402336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09359" y="1783080"/>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1965960"/>
            <a:ext cx="2286000" cy="411480"/>
          </a:xfrm>
          <a:prstGeom prst="rect">
            <a:avLst/>
          </a:prstGeom>
          <a:noFill/>
        </p:spPr>
        <p:txBody>
          <a:bodyPr wrap="square" lIns="45720" tIns="27432" rIns="45720" bIns="27432" anchor="t">
            <a:spAutoFit/>
          </a:bodyPr>
          <a:lstStyle/>
          <a:p>
            <a:pPr algn="l"/>
            <a:r>
              <a:rPr sz="2000" b="1">
                <a:solidFill>
                  <a:srgbClr val="F5F5F5"/>
                </a:solidFill>
                <a:latin typeface="Arial"/>
              </a:rPr>
              <a:t>Nav</a:t>
            </a:r>
          </a:p>
        </p:txBody>
      </p:sp>
      <p:sp>
        <p:nvSpPr>
          <p:cNvPr id="22" name="TextBox 21"/>
          <p:cNvSpPr txBox="1"/>
          <p:nvPr/>
        </p:nvSpPr>
        <p:spPr>
          <a:xfrm>
            <a:off x="6492240" y="2377440"/>
            <a:ext cx="2286000" cy="365760"/>
          </a:xfrm>
          <a:prstGeom prst="rect">
            <a:avLst/>
          </a:prstGeom>
          <a:noFill/>
        </p:spPr>
        <p:txBody>
          <a:bodyPr wrap="square" lIns="45720" tIns="27432" rIns="45720" bIns="27432" anchor="t">
            <a:spAutoFit/>
          </a:bodyPr>
          <a:lstStyle/>
          <a:p>
            <a:pPr algn="l"/>
            <a:r>
              <a:rPr sz="1100" b="1">
                <a:solidFill>
                  <a:srgbClr val="D15010"/>
                </a:solidFill>
                <a:latin typeface="Arial"/>
              </a:rPr>
              <a:t>Fintech, legacy Rails plus Java</a:t>
            </a:r>
          </a:p>
        </p:txBody>
      </p:sp>
      <p:sp>
        <p:nvSpPr>
          <p:cNvPr id="23" name="TextBox 22"/>
          <p:cNvSpPr txBox="1"/>
          <p:nvPr/>
        </p:nvSpPr>
        <p:spPr>
          <a:xfrm>
            <a:off x="6492240" y="2834640"/>
            <a:ext cx="2286000" cy="2926080"/>
          </a:xfrm>
          <a:prstGeom prst="rect">
            <a:avLst/>
          </a:prstGeom>
          <a:noFill/>
        </p:spPr>
        <p:txBody>
          <a:bodyPr wrap="square" lIns="45720" tIns="27432" rIns="45720" bIns="27432" anchor="t">
            <a:spAutoFit/>
          </a:bodyPr>
          <a:lstStyle/>
          <a:p>
            <a:pPr algn="l">
              <a:spcAft>
                <a:spcPts val="1000"/>
              </a:spcAft>
            </a:pPr>
            <a:r>
              <a:rPr sz="1300" b="0">
                <a:solidFill>
                  <a:srgbClr val="F5F5F5"/>
                </a:solidFill>
                <a:latin typeface="Arial"/>
              </a:rPr>
              <a:t>“60%” reduction in context-switching time.</a:t>
            </a:r>
          </a:p>
          <a:p>
            <a:pPr algn="l">
              <a:spcAft>
                <a:spcPts val="1000"/>
              </a:spcAft>
            </a:pPr>
            <a:r>
              <a:rPr sz="1300" b="0">
                <a:solidFill>
                  <a:srgbClr val="F5F5F5"/>
                </a:solidFill>
                <a:latin typeface="Arial"/>
              </a:rPr>
              <a:t>“2x” faster feature development cycles.</a:t>
            </a:r>
          </a:p>
        </p:txBody>
      </p:sp>
      <p:sp>
        <p:nvSpPr>
          <p:cNvPr id="24" name="Rectangle 23"/>
          <p:cNvSpPr/>
          <p:nvPr/>
        </p:nvSpPr>
        <p:spPr>
          <a:xfrm>
            <a:off x="9098280" y="1783080"/>
            <a:ext cx="2651760" cy="402336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098280" y="1783080"/>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81159" y="1965960"/>
            <a:ext cx="2286000" cy="411480"/>
          </a:xfrm>
          <a:prstGeom prst="rect">
            <a:avLst/>
          </a:prstGeom>
          <a:noFill/>
        </p:spPr>
        <p:txBody>
          <a:bodyPr wrap="square" lIns="45720" tIns="27432" rIns="45720" bIns="27432" anchor="t">
            <a:spAutoFit/>
          </a:bodyPr>
          <a:lstStyle/>
          <a:p>
            <a:pPr algn="l"/>
            <a:r>
              <a:rPr sz="2000" b="1">
                <a:solidFill>
                  <a:srgbClr val="F5F5F5"/>
                </a:solidFill>
                <a:latin typeface="Arial"/>
              </a:rPr>
              <a:t>Chainguard</a:t>
            </a:r>
          </a:p>
        </p:txBody>
      </p:sp>
      <p:sp>
        <p:nvSpPr>
          <p:cNvPr id="27" name="TextBox 26"/>
          <p:cNvSpPr txBox="1"/>
          <p:nvPr/>
        </p:nvSpPr>
        <p:spPr>
          <a:xfrm>
            <a:off x="9281159" y="2377440"/>
            <a:ext cx="2286000" cy="365760"/>
          </a:xfrm>
          <a:prstGeom prst="rect">
            <a:avLst/>
          </a:prstGeom>
          <a:noFill/>
        </p:spPr>
        <p:txBody>
          <a:bodyPr wrap="square" lIns="45720" tIns="27432" rIns="45720" bIns="27432" anchor="t">
            <a:spAutoFit/>
          </a:bodyPr>
          <a:lstStyle/>
          <a:p>
            <a:pPr algn="l"/>
            <a:r>
              <a:rPr sz="1100" b="1">
                <a:solidFill>
                  <a:srgbClr val="D15010"/>
                </a:solidFill>
                <a:latin typeface="Arial"/>
              </a:rPr>
              <a:t>Secure open source software</a:t>
            </a:r>
          </a:p>
        </p:txBody>
      </p:sp>
      <p:sp>
        <p:nvSpPr>
          <p:cNvPr id="28" name="TextBox 27"/>
          <p:cNvSpPr txBox="1"/>
          <p:nvPr/>
        </p:nvSpPr>
        <p:spPr>
          <a:xfrm>
            <a:off x="9281159" y="2834640"/>
            <a:ext cx="2286000" cy="2926080"/>
          </a:xfrm>
          <a:prstGeom prst="rect">
            <a:avLst/>
          </a:prstGeom>
          <a:noFill/>
        </p:spPr>
        <p:txBody>
          <a:bodyPr wrap="square" lIns="45720" tIns="27432" rIns="45720" bIns="27432" anchor="t">
            <a:spAutoFit/>
          </a:bodyPr>
          <a:lstStyle/>
          <a:p>
            <a:pPr algn="l">
              <a:spcAft>
                <a:spcPts val="1000"/>
              </a:spcAft>
            </a:pPr>
            <a:r>
              <a:rPr sz="1300" b="0">
                <a:solidFill>
                  <a:srgbClr val="F5F5F5"/>
                </a:solidFill>
                <a:latin typeface="Arial"/>
              </a:rPr>
              <a:t>One session kept going for two weeks without losing context.</a:t>
            </a:r>
          </a:p>
          <a:p>
            <a:pPr algn="l">
              <a:spcAft>
                <a:spcPts val="1000"/>
              </a:spcAft>
            </a:pPr>
            <a:r>
              <a:rPr sz="1300" b="0">
                <a:solidFill>
                  <a:srgbClr val="F5F5F5"/>
                </a:solidFill>
                <a:latin typeface="Arial"/>
              </a:rPr>
              <a:t>Listed results: 6 repositories, 80 packages built.</a:t>
            </a:r>
          </a:p>
        </p:txBody>
      </p:sp>
      <p:sp>
        <p:nvSpPr>
          <p:cNvPr id="29" name="TextBox 28"/>
          <p:cNvSpPr txBox="1"/>
          <p:nvPr/>
        </p:nvSpPr>
        <p:spPr>
          <a:xfrm>
            <a:off x="731520" y="5943600"/>
            <a:ext cx="10698480" cy="365760"/>
          </a:xfrm>
          <a:prstGeom prst="rect">
            <a:avLst/>
          </a:prstGeom>
          <a:noFill/>
        </p:spPr>
        <p:txBody>
          <a:bodyPr wrap="square" lIns="45720" tIns="27432" rIns="45720" bIns="27432" anchor="t">
            <a:spAutoFit/>
          </a:bodyPr>
          <a:lstStyle/>
          <a:p>
            <a:pPr algn="l"/>
            <a:r>
              <a:rPr sz="1100" b="0">
                <a:solidFill>
                  <a:srgbClr val="A3A3A3"/>
                </a:solidFill>
                <a:latin typeface="Arial"/>
              </a:rPr>
              <a:t>Results are customer-reported, from factory.com/case-studies. Your results will differ.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02920"/>
            <a:ext cx="73152" cy="868680"/>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9144000" cy="320040"/>
          </a:xfrm>
          <a:prstGeom prst="rect">
            <a:avLst/>
          </a:prstGeom>
          <a:noFill/>
        </p:spPr>
        <p:txBody>
          <a:bodyPr wrap="square" lIns="45720" tIns="27432" rIns="45720" bIns="27432" anchor="t">
            <a:spAutoFit/>
          </a:bodyPr>
          <a:lstStyle/>
          <a:p>
            <a:pPr algn="l"/>
            <a:r>
              <a:rPr sz="1200" b="1">
                <a:solidFill>
                  <a:srgbClr val="D15010"/>
                </a:solidFill>
                <a:latin typeface="Arial"/>
              </a:rPr>
              <a:t>ONE CHANGE, THE WHOLE LIFECYCLE</a:t>
            </a:r>
          </a:p>
        </p:txBody>
      </p:sp>
      <p:sp>
        <p:nvSpPr>
          <p:cNvPr id="5" name="TextBox 4"/>
          <p:cNvSpPr txBox="1"/>
          <p:nvPr/>
        </p:nvSpPr>
        <p:spPr>
          <a:xfrm>
            <a:off x="731520" y="749808"/>
            <a:ext cx="10515600" cy="731520"/>
          </a:xfrm>
          <a:prstGeom prst="rect">
            <a:avLst/>
          </a:prstGeom>
          <a:noFill/>
        </p:spPr>
        <p:txBody>
          <a:bodyPr wrap="square" lIns="45720" tIns="27432" rIns="45720" bIns="27432" anchor="t">
            <a:spAutoFit/>
          </a:bodyPr>
          <a:lstStyle/>
          <a:p>
            <a:pPr algn="l"/>
            <a:r>
              <a:rPr sz="3200" b="1">
                <a:solidFill>
                  <a:srgbClr val="F5F5F5"/>
                </a:solidFill>
                <a:latin typeface="Arial"/>
              </a:rPr>
              <a:t>The flow of the demo</a:t>
            </a:r>
          </a:p>
        </p:txBody>
      </p:sp>
      <p:pic>
        <p:nvPicPr>
          <p:cNvPr id="6" name="Picture 5" descr="logo_orange.png"/>
          <p:cNvPicPr>
            <a:picLocks noChangeAspect="1"/>
          </p:cNvPicPr>
          <p:nvPr/>
        </p:nvPicPr>
        <p:blipFill>
          <a:blip r:embed="rId3"/>
          <a:stretch>
            <a:fillRect/>
          </a:stretch>
        </p:blipFill>
        <p:spPr>
          <a:xfrm>
            <a:off x="11155680" y="457200"/>
            <a:ext cx="502920" cy="502920"/>
          </a:xfrm>
          <a:prstGeom prst="rect">
            <a:avLst/>
          </a:prstGeom>
        </p:spPr>
      </p:pic>
      <p:sp>
        <p:nvSpPr>
          <p:cNvPr id="7" name="TextBox 6"/>
          <p:cNvSpPr txBox="1"/>
          <p:nvPr/>
        </p:nvSpPr>
        <p:spPr>
          <a:xfrm>
            <a:off x="11155680" y="6400800"/>
            <a:ext cx="731520" cy="274320"/>
          </a:xfrm>
          <a:prstGeom prst="rect">
            <a:avLst/>
          </a:prstGeom>
          <a:noFill/>
        </p:spPr>
        <p:txBody>
          <a:bodyPr wrap="square" lIns="45720" tIns="27432" rIns="45720" bIns="27432" anchor="t">
            <a:spAutoFit/>
          </a:bodyPr>
          <a:lstStyle/>
          <a:p>
            <a:pPr algn="r"/>
            <a:r>
              <a:rPr sz="1000" b="0">
                <a:solidFill>
                  <a:srgbClr val="A3A3A3"/>
                </a:solidFill>
                <a:latin typeface="Arial"/>
              </a:rPr>
              <a:t>6</a:t>
            </a:r>
          </a:p>
        </p:txBody>
      </p:sp>
      <p:sp>
        <p:nvSpPr>
          <p:cNvPr id="8" name="TextBox 7"/>
          <p:cNvSpPr txBox="1"/>
          <p:nvPr/>
        </p:nvSpPr>
        <p:spPr>
          <a:xfrm>
            <a:off x="548640" y="6400800"/>
            <a:ext cx="5486400" cy="274320"/>
          </a:xfrm>
          <a:prstGeom prst="rect">
            <a:avLst/>
          </a:prstGeom>
          <a:noFill/>
        </p:spPr>
        <p:txBody>
          <a:bodyPr wrap="square" lIns="45720" tIns="27432" rIns="45720" bIns="27432" anchor="t">
            <a:spAutoFit/>
          </a:bodyPr>
          <a:lstStyle/>
          <a:p>
            <a:pPr algn="l"/>
            <a:r>
              <a:rPr sz="1000" b="0">
                <a:solidFill>
                  <a:srgbClr val="A3A3A3"/>
                </a:solidFill>
                <a:latin typeface="Arial"/>
              </a:rPr>
              <a:t>Second meeting: what we heard and the demo</a:t>
            </a:r>
          </a:p>
        </p:txBody>
      </p:sp>
      <p:sp>
        <p:nvSpPr>
          <p:cNvPr id="9" name="Rectangle 8"/>
          <p:cNvSpPr/>
          <p:nvPr/>
        </p:nvSpPr>
        <p:spPr>
          <a:xfrm>
            <a:off x="731520" y="1783080"/>
            <a:ext cx="2651760" cy="201168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783080"/>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32688" y="203911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1</a:t>
            </a:r>
          </a:p>
        </p:txBody>
      </p:sp>
      <p:sp>
        <p:nvSpPr>
          <p:cNvPr id="12" name="TextBox 11"/>
          <p:cNvSpPr txBox="1"/>
          <p:nvPr/>
        </p:nvSpPr>
        <p:spPr>
          <a:xfrm>
            <a:off x="1481328" y="1984248"/>
            <a:ext cx="1719072" cy="548640"/>
          </a:xfrm>
          <a:prstGeom prst="rect">
            <a:avLst/>
          </a:prstGeom>
          <a:noFill/>
        </p:spPr>
        <p:txBody>
          <a:bodyPr wrap="square" lIns="45720" tIns="27432" rIns="45720" bIns="27432" anchor="ctr">
            <a:spAutoFit/>
          </a:bodyPr>
          <a:lstStyle/>
          <a:p>
            <a:pPr algn="l"/>
            <a:r>
              <a:rPr sz="1600" b="1">
                <a:solidFill>
                  <a:srgbClr val="F5F5F5"/>
                </a:solidFill>
                <a:latin typeface="Arial"/>
              </a:rPr>
              <a:t>The problem</a:t>
            </a:r>
          </a:p>
        </p:txBody>
      </p:sp>
      <p:sp>
        <p:nvSpPr>
          <p:cNvPr id="13" name="TextBox 12"/>
          <p:cNvSpPr txBox="1"/>
          <p:nvPr/>
        </p:nvSpPr>
        <p:spPr>
          <a:xfrm>
            <a:off x="960120" y="2651760"/>
            <a:ext cx="2194560" cy="1051560"/>
          </a:xfrm>
          <a:prstGeom prst="rect">
            <a:avLst/>
          </a:prstGeom>
          <a:noFill/>
        </p:spPr>
        <p:txBody>
          <a:bodyPr wrap="square" lIns="45720" tIns="27432" rIns="45720" bIns="27432" anchor="t">
            <a:spAutoFit/>
          </a:bodyPr>
          <a:lstStyle/>
          <a:p>
            <a:pPr algn="l">
              <a:spcAft>
                <a:spcPts val="400"/>
              </a:spcAft>
            </a:pPr>
            <a:r>
              <a:rPr sz="1200" b="0">
                <a:solidFill>
                  <a:srgbClr val="A3A3A3"/>
                </a:solidFill>
                <a:latin typeface="Arial"/>
              </a:rPr>
              <a:t>Run the green-screen app and show the hidden rules.</a:t>
            </a:r>
          </a:p>
        </p:txBody>
      </p:sp>
      <p:sp>
        <p:nvSpPr>
          <p:cNvPr id="14" name="Rectangle 13"/>
          <p:cNvSpPr/>
          <p:nvPr/>
        </p:nvSpPr>
        <p:spPr>
          <a:xfrm>
            <a:off x="3520439" y="1783080"/>
            <a:ext cx="2651760" cy="201168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520439" y="1783080"/>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721607" y="203911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2</a:t>
            </a:r>
          </a:p>
        </p:txBody>
      </p:sp>
      <p:sp>
        <p:nvSpPr>
          <p:cNvPr id="17" name="TextBox 16"/>
          <p:cNvSpPr txBox="1"/>
          <p:nvPr/>
        </p:nvSpPr>
        <p:spPr>
          <a:xfrm>
            <a:off x="4270248" y="1984248"/>
            <a:ext cx="1719072" cy="548640"/>
          </a:xfrm>
          <a:prstGeom prst="rect">
            <a:avLst/>
          </a:prstGeom>
          <a:noFill/>
        </p:spPr>
        <p:txBody>
          <a:bodyPr wrap="square" lIns="45720" tIns="27432" rIns="45720" bIns="27432" anchor="ctr">
            <a:spAutoFit/>
          </a:bodyPr>
          <a:lstStyle/>
          <a:p>
            <a:pPr algn="l"/>
            <a:r>
              <a:rPr sz="1600" b="1">
                <a:solidFill>
                  <a:srgbClr val="F5F5F5"/>
                </a:solidFill>
                <a:latin typeface="Arial"/>
              </a:rPr>
              <a:t>Intake</a:t>
            </a:r>
          </a:p>
        </p:txBody>
      </p:sp>
      <p:sp>
        <p:nvSpPr>
          <p:cNvPr id="18" name="TextBox 17"/>
          <p:cNvSpPr txBox="1"/>
          <p:nvPr/>
        </p:nvSpPr>
        <p:spPr>
          <a:xfrm>
            <a:off x="3749039" y="2651760"/>
            <a:ext cx="2194560" cy="1051560"/>
          </a:xfrm>
          <a:prstGeom prst="rect">
            <a:avLst/>
          </a:prstGeom>
          <a:noFill/>
        </p:spPr>
        <p:txBody>
          <a:bodyPr wrap="square" lIns="45720" tIns="27432" rIns="45720" bIns="27432" anchor="t">
            <a:spAutoFit/>
          </a:bodyPr>
          <a:lstStyle/>
          <a:p>
            <a:pPr algn="l">
              <a:spcAft>
                <a:spcPts val="400"/>
              </a:spcAft>
            </a:pPr>
            <a:r>
              <a:rPr sz="1200" b="0">
                <a:solidFill>
                  <a:srgbClr val="A3A3A3"/>
                </a:solidFill>
                <a:latin typeface="Arial"/>
              </a:rPr>
              <a:t>A Jira ticket is assigned to Factory; an automation watches for new ones.</a:t>
            </a:r>
          </a:p>
        </p:txBody>
      </p:sp>
      <p:sp>
        <p:nvSpPr>
          <p:cNvPr id="19" name="Rectangle 18"/>
          <p:cNvSpPr/>
          <p:nvPr/>
        </p:nvSpPr>
        <p:spPr>
          <a:xfrm>
            <a:off x="6309359" y="1783080"/>
            <a:ext cx="2651760" cy="201168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09359" y="1783080"/>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510527" y="203911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3</a:t>
            </a:r>
          </a:p>
        </p:txBody>
      </p:sp>
      <p:sp>
        <p:nvSpPr>
          <p:cNvPr id="22" name="TextBox 21"/>
          <p:cNvSpPr txBox="1"/>
          <p:nvPr/>
        </p:nvSpPr>
        <p:spPr>
          <a:xfrm>
            <a:off x="7059168" y="1984248"/>
            <a:ext cx="1719072" cy="548640"/>
          </a:xfrm>
          <a:prstGeom prst="rect">
            <a:avLst/>
          </a:prstGeom>
          <a:noFill/>
        </p:spPr>
        <p:txBody>
          <a:bodyPr wrap="square" lIns="45720" tIns="27432" rIns="45720" bIns="27432" anchor="ctr">
            <a:spAutoFit/>
          </a:bodyPr>
          <a:lstStyle/>
          <a:p>
            <a:pPr algn="l"/>
            <a:r>
              <a:rPr sz="1600" b="1">
                <a:solidFill>
                  <a:srgbClr val="F5F5F5"/>
                </a:solidFill>
                <a:latin typeface="Arial"/>
              </a:rPr>
              <a:t>Readiness</a:t>
            </a:r>
          </a:p>
        </p:txBody>
      </p:sp>
      <p:sp>
        <p:nvSpPr>
          <p:cNvPr id="23" name="TextBox 22"/>
          <p:cNvSpPr txBox="1"/>
          <p:nvPr/>
        </p:nvSpPr>
        <p:spPr>
          <a:xfrm>
            <a:off x="6537959" y="2651760"/>
            <a:ext cx="2194560" cy="1051560"/>
          </a:xfrm>
          <a:prstGeom prst="rect">
            <a:avLst/>
          </a:prstGeom>
          <a:noFill/>
        </p:spPr>
        <p:txBody>
          <a:bodyPr wrap="square" lIns="45720" tIns="27432" rIns="45720" bIns="27432" anchor="t">
            <a:spAutoFit/>
          </a:bodyPr>
          <a:lstStyle/>
          <a:p>
            <a:pPr algn="l">
              <a:spcAft>
                <a:spcPts val="400"/>
              </a:spcAft>
            </a:pPr>
            <a:r>
              <a:rPr sz="1200" b="0">
                <a:solidFill>
                  <a:srgbClr val="A3A3A3"/>
                </a:solidFill>
                <a:latin typeface="Arial"/>
              </a:rPr>
              <a:t>Readiness report, plus tests that pin today’s behavior.</a:t>
            </a:r>
          </a:p>
        </p:txBody>
      </p:sp>
      <p:sp>
        <p:nvSpPr>
          <p:cNvPr id="24" name="Rectangle 23"/>
          <p:cNvSpPr/>
          <p:nvPr/>
        </p:nvSpPr>
        <p:spPr>
          <a:xfrm>
            <a:off x="9098280" y="1783080"/>
            <a:ext cx="2651760" cy="201168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098280" y="1783080"/>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299448" y="203911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4</a:t>
            </a:r>
          </a:p>
        </p:txBody>
      </p:sp>
      <p:sp>
        <p:nvSpPr>
          <p:cNvPr id="27" name="TextBox 26"/>
          <p:cNvSpPr txBox="1"/>
          <p:nvPr/>
        </p:nvSpPr>
        <p:spPr>
          <a:xfrm>
            <a:off x="9848088" y="1984248"/>
            <a:ext cx="1719072" cy="548640"/>
          </a:xfrm>
          <a:prstGeom prst="rect">
            <a:avLst/>
          </a:prstGeom>
          <a:noFill/>
        </p:spPr>
        <p:txBody>
          <a:bodyPr wrap="square" lIns="45720" tIns="27432" rIns="45720" bIns="27432" anchor="ctr">
            <a:spAutoFit/>
          </a:bodyPr>
          <a:lstStyle/>
          <a:p>
            <a:pPr algn="l"/>
            <a:r>
              <a:rPr sz="1600" b="1">
                <a:solidFill>
                  <a:srgbClr val="F5F5F5"/>
                </a:solidFill>
                <a:latin typeface="Arial"/>
              </a:rPr>
              <a:t>Standardize</a:t>
            </a:r>
          </a:p>
        </p:txBody>
      </p:sp>
      <p:sp>
        <p:nvSpPr>
          <p:cNvPr id="28" name="TextBox 27"/>
          <p:cNvSpPr txBox="1"/>
          <p:nvPr/>
        </p:nvSpPr>
        <p:spPr>
          <a:xfrm>
            <a:off x="9326880" y="2651760"/>
            <a:ext cx="2194560" cy="1051560"/>
          </a:xfrm>
          <a:prstGeom prst="rect">
            <a:avLst/>
          </a:prstGeom>
          <a:noFill/>
        </p:spPr>
        <p:txBody>
          <a:bodyPr wrap="square" lIns="45720" tIns="27432" rIns="45720" bIns="27432" anchor="t">
            <a:spAutoFit/>
          </a:bodyPr>
          <a:lstStyle/>
          <a:p>
            <a:pPr algn="l">
              <a:spcAft>
                <a:spcPts val="400"/>
              </a:spcAft>
            </a:pPr>
            <a:r>
              <a:rPr sz="1200" b="0">
                <a:solidFill>
                  <a:srgbClr val="A3A3A3"/>
                </a:solidFill>
                <a:latin typeface="Arial"/>
              </a:rPr>
              <a:t>AGENTS.md, a skill, a hook and a reviewer droid, shared org-wide.</a:t>
            </a:r>
          </a:p>
        </p:txBody>
      </p:sp>
      <p:sp>
        <p:nvSpPr>
          <p:cNvPr id="29" name="Rectangle 28"/>
          <p:cNvSpPr/>
          <p:nvPr/>
        </p:nvSpPr>
        <p:spPr>
          <a:xfrm>
            <a:off x="731520" y="3977639"/>
            <a:ext cx="2651760" cy="201168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31520" y="3977639"/>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932688" y="423367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5</a:t>
            </a:r>
          </a:p>
        </p:txBody>
      </p:sp>
      <p:sp>
        <p:nvSpPr>
          <p:cNvPr id="32" name="TextBox 31"/>
          <p:cNvSpPr txBox="1"/>
          <p:nvPr/>
        </p:nvSpPr>
        <p:spPr>
          <a:xfrm>
            <a:off x="1481328" y="4178807"/>
            <a:ext cx="1719072" cy="548640"/>
          </a:xfrm>
          <a:prstGeom prst="rect">
            <a:avLst/>
          </a:prstGeom>
          <a:noFill/>
        </p:spPr>
        <p:txBody>
          <a:bodyPr wrap="square" lIns="45720" tIns="27432" rIns="45720" bIns="27432" anchor="ctr">
            <a:spAutoFit/>
          </a:bodyPr>
          <a:lstStyle/>
          <a:p>
            <a:pPr algn="l"/>
            <a:r>
              <a:rPr sz="1600" b="1">
                <a:solidFill>
                  <a:srgbClr val="F5F5F5"/>
                </a:solidFill>
                <a:latin typeface="Arial"/>
              </a:rPr>
              <a:t>Mission</a:t>
            </a:r>
          </a:p>
        </p:txBody>
      </p:sp>
      <p:sp>
        <p:nvSpPr>
          <p:cNvPr id="33" name="TextBox 32"/>
          <p:cNvSpPr txBox="1"/>
          <p:nvPr/>
        </p:nvSpPr>
        <p:spPr>
          <a:xfrm>
            <a:off x="960120" y="4846320"/>
            <a:ext cx="2194560" cy="1051560"/>
          </a:xfrm>
          <a:prstGeom prst="rect">
            <a:avLst/>
          </a:prstGeom>
          <a:noFill/>
        </p:spPr>
        <p:txBody>
          <a:bodyPr wrap="square" lIns="45720" tIns="27432" rIns="45720" bIns="27432" anchor="t">
            <a:spAutoFit/>
          </a:bodyPr>
          <a:lstStyle/>
          <a:p>
            <a:pPr algn="l">
              <a:spcAft>
                <a:spcPts val="400"/>
              </a:spcAft>
            </a:pPr>
            <a:r>
              <a:rPr sz="1200" b="0">
                <a:solidFill>
                  <a:srgbClr val="A3A3A3"/>
                </a:solidFill>
                <a:latin typeface="Arial"/>
              </a:rPr>
              <a:t>Plan, approve, then build the new app in milestones.</a:t>
            </a:r>
          </a:p>
        </p:txBody>
      </p:sp>
      <p:sp>
        <p:nvSpPr>
          <p:cNvPr id="34" name="Rectangle 33"/>
          <p:cNvSpPr/>
          <p:nvPr/>
        </p:nvSpPr>
        <p:spPr>
          <a:xfrm>
            <a:off x="3520439" y="3977639"/>
            <a:ext cx="2651760" cy="201168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520439" y="3977639"/>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721607" y="423367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6</a:t>
            </a:r>
          </a:p>
        </p:txBody>
      </p:sp>
      <p:sp>
        <p:nvSpPr>
          <p:cNvPr id="37" name="TextBox 36"/>
          <p:cNvSpPr txBox="1"/>
          <p:nvPr/>
        </p:nvSpPr>
        <p:spPr>
          <a:xfrm>
            <a:off x="4270248" y="4178807"/>
            <a:ext cx="1719072" cy="548640"/>
          </a:xfrm>
          <a:prstGeom prst="rect">
            <a:avLst/>
          </a:prstGeom>
          <a:noFill/>
        </p:spPr>
        <p:txBody>
          <a:bodyPr wrap="square" lIns="45720" tIns="27432" rIns="45720" bIns="27432" anchor="ctr">
            <a:spAutoFit/>
          </a:bodyPr>
          <a:lstStyle/>
          <a:p>
            <a:pPr algn="l"/>
            <a:r>
              <a:rPr sz="1600" b="1">
                <a:solidFill>
                  <a:srgbClr val="F5F5F5"/>
                </a:solidFill>
                <a:latin typeface="Arial"/>
              </a:rPr>
              <a:t>Validate</a:t>
            </a:r>
          </a:p>
        </p:txBody>
      </p:sp>
      <p:sp>
        <p:nvSpPr>
          <p:cNvPr id="38" name="TextBox 37"/>
          <p:cNvSpPr txBox="1"/>
          <p:nvPr/>
        </p:nvSpPr>
        <p:spPr>
          <a:xfrm>
            <a:off x="3749039" y="4846320"/>
            <a:ext cx="2194560" cy="1051560"/>
          </a:xfrm>
          <a:prstGeom prst="rect">
            <a:avLst/>
          </a:prstGeom>
          <a:noFill/>
        </p:spPr>
        <p:txBody>
          <a:bodyPr wrap="square" lIns="45720" tIns="27432" rIns="45720" bIns="27432" anchor="t">
            <a:spAutoFit/>
          </a:bodyPr>
          <a:lstStyle/>
          <a:p>
            <a:pPr algn="l">
              <a:spcAft>
                <a:spcPts val="400"/>
              </a:spcAft>
            </a:pPr>
            <a:r>
              <a:rPr sz="1200" b="0">
                <a:solidFill>
                  <a:srgbClr val="A3A3A3"/>
                </a:solidFill>
                <a:latin typeface="Arial"/>
              </a:rPr>
              <a:t>Review, QA and security audit on the pull request.</a:t>
            </a:r>
          </a:p>
        </p:txBody>
      </p:sp>
      <p:sp>
        <p:nvSpPr>
          <p:cNvPr id="39" name="Rectangle 38"/>
          <p:cNvSpPr/>
          <p:nvPr/>
        </p:nvSpPr>
        <p:spPr>
          <a:xfrm>
            <a:off x="6309359" y="3977639"/>
            <a:ext cx="2651760" cy="201168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309359" y="3977639"/>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6510527" y="423367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7</a:t>
            </a:r>
          </a:p>
        </p:txBody>
      </p:sp>
      <p:sp>
        <p:nvSpPr>
          <p:cNvPr id="42" name="TextBox 41"/>
          <p:cNvSpPr txBox="1"/>
          <p:nvPr/>
        </p:nvSpPr>
        <p:spPr>
          <a:xfrm>
            <a:off x="7059168" y="4178807"/>
            <a:ext cx="1719072" cy="548640"/>
          </a:xfrm>
          <a:prstGeom prst="rect">
            <a:avLst/>
          </a:prstGeom>
          <a:noFill/>
        </p:spPr>
        <p:txBody>
          <a:bodyPr wrap="square" lIns="45720" tIns="27432" rIns="45720" bIns="27432" anchor="ctr">
            <a:spAutoFit/>
          </a:bodyPr>
          <a:lstStyle/>
          <a:p>
            <a:pPr algn="l"/>
            <a:r>
              <a:rPr sz="1600" b="1">
                <a:solidFill>
                  <a:srgbClr val="F5F5F5"/>
                </a:solidFill>
                <a:latin typeface="Arial"/>
              </a:rPr>
              <a:t>Software Factory</a:t>
            </a:r>
          </a:p>
        </p:txBody>
      </p:sp>
      <p:sp>
        <p:nvSpPr>
          <p:cNvPr id="43" name="TextBox 42"/>
          <p:cNvSpPr txBox="1"/>
          <p:nvPr/>
        </p:nvSpPr>
        <p:spPr>
          <a:xfrm>
            <a:off x="6537959" y="4846320"/>
            <a:ext cx="2194560" cy="1051560"/>
          </a:xfrm>
          <a:prstGeom prst="rect">
            <a:avLst/>
          </a:prstGeom>
          <a:noFill/>
        </p:spPr>
        <p:txBody>
          <a:bodyPr wrap="square" lIns="45720" tIns="27432" rIns="45720" bIns="27432" anchor="t">
            <a:spAutoFit/>
          </a:bodyPr>
          <a:lstStyle/>
          <a:p>
            <a:pPr algn="l">
              <a:spcAft>
                <a:spcPts val="400"/>
              </a:spcAft>
            </a:pPr>
            <a:r>
              <a:rPr sz="1200" b="0">
                <a:solidFill>
                  <a:srgbClr val="A3A3A3"/>
                </a:solidFill>
                <a:latin typeface="Arial"/>
              </a:rPr>
              <a:t>Coverage across triage, validate, release, document, monitor.</a:t>
            </a:r>
          </a:p>
        </p:txBody>
      </p:sp>
      <p:sp>
        <p:nvSpPr>
          <p:cNvPr id="44" name="Rectangle 43"/>
          <p:cNvSpPr/>
          <p:nvPr/>
        </p:nvSpPr>
        <p:spPr>
          <a:xfrm>
            <a:off x="9098280" y="3977639"/>
            <a:ext cx="2651760" cy="201168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098280" y="3977639"/>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9299448" y="4233672"/>
            <a:ext cx="420624" cy="420624"/>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5F5F5"/>
                </a:solidFill>
                <a:latin typeface="Arial"/>
              </a:rPr>
              <a:t>8</a:t>
            </a:r>
          </a:p>
        </p:txBody>
      </p:sp>
      <p:sp>
        <p:nvSpPr>
          <p:cNvPr id="47" name="TextBox 46"/>
          <p:cNvSpPr txBox="1"/>
          <p:nvPr/>
        </p:nvSpPr>
        <p:spPr>
          <a:xfrm>
            <a:off x="9848088" y="4178807"/>
            <a:ext cx="1719072" cy="548640"/>
          </a:xfrm>
          <a:prstGeom prst="rect">
            <a:avLst/>
          </a:prstGeom>
          <a:noFill/>
        </p:spPr>
        <p:txBody>
          <a:bodyPr wrap="square" lIns="45720" tIns="27432" rIns="45720" bIns="27432" anchor="ctr">
            <a:spAutoFit/>
          </a:bodyPr>
          <a:lstStyle/>
          <a:p>
            <a:pPr algn="l"/>
            <a:r>
              <a:rPr sz="1600" b="1">
                <a:solidFill>
                  <a:srgbClr val="F5F5F5"/>
                </a:solidFill>
                <a:latin typeface="Arial"/>
              </a:rPr>
              <a:t>Govern and prove</a:t>
            </a:r>
          </a:p>
        </p:txBody>
      </p:sp>
      <p:sp>
        <p:nvSpPr>
          <p:cNvPr id="48" name="TextBox 47"/>
          <p:cNvSpPr txBox="1"/>
          <p:nvPr/>
        </p:nvSpPr>
        <p:spPr>
          <a:xfrm>
            <a:off x="9326880" y="4846320"/>
            <a:ext cx="2194560" cy="1051560"/>
          </a:xfrm>
          <a:prstGeom prst="rect">
            <a:avLst/>
          </a:prstGeom>
          <a:noFill/>
        </p:spPr>
        <p:txBody>
          <a:bodyPr wrap="square" lIns="45720" tIns="27432" rIns="45720" bIns="27432" anchor="t">
            <a:spAutoFit/>
          </a:bodyPr>
          <a:lstStyle/>
          <a:p>
            <a:pPr algn="l">
              <a:spcAft>
                <a:spcPts val="400"/>
              </a:spcAft>
            </a:pPr>
            <a:r>
              <a:rPr sz="1200" b="0">
                <a:solidFill>
                  <a:srgbClr val="A3A3A3"/>
                </a:solidFill>
                <a:latin typeface="Arial"/>
              </a:rPr>
              <a:t>Policy and telemetry, then the scorecard of what was preserved.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02920"/>
            <a:ext cx="73152" cy="868680"/>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9144000" cy="320040"/>
          </a:xfrm>
          <a:prstGeom prst="rect">
            <a:avLst/>
          </a:prstGeom>
          <a:noFill/>
        </p:spPr>
        <p:txBody>
          <a:bodyPr wrap="square" lIns="45720" tIns="27432" rIns="45720" bIns="27432" anchor="t">
            <a:spAutoFit/>
          </a:bodyPr>
          <a:lstStyle/>
          <a:p>
            <a:pPr algn="l"/>
            <a:r>
              <a:rPr sz="1200" b="1">
                <a:solidFill>
                  <a:srgbClr val="D15010"/>
                </a:solidFill>
                <a:latin typeface="Arial"/>
              </a:rPr>
              <a:t>PROPOSED SHAPE, SET TOGETHER WITH YOU</a:t>
            </a:r>
          </a:p>
        </p:txBody>
      </p:sp>
      <p:sp>
        <p:nvSpPr>
          <p:cNvPr id="5" name="TextBox 4"/>
          <p:cNvSpPr txBox="1"/>
          <p:nvPr/>
        </p:nvSpPr>
        <p:spPr>
          <a:xfrm>
            <a:off x="731520" y="749808"/>
            <a:ext cx="10515600" cy="731520"/>
          </a:xfrm>
          <a:prstGeom prst="rect">
            <a:avLst/>
          </a:prstGeom>
          <a:noFill/>
        </p:spPr>
        <p:txBody>
          <a:bodyPr wrap="square" lIns="45720" tIns="27432" rIns="45720" bIns="27432" anchor="t">
            <a:spAutoFit/>
          </a:bodyPr>
          <a:lstStyle/>
          <a:p>
            <a:pPr algn="l"/>
            <a:r>
              <a:rPr sz="3200" b="1">
                <a:solidFill>
                  <a:srgbClr val="F5F5F5"/>
                </a:solidFill>
                <a:latin typeface="Arial"/>
              </a:rPr>
              <a:t>What a project looks like</a:t>
            </a:r>
          </a:p>
        </p:txBody>
      </p:sp>
      <p:pic>
        <p:nvPicPr>
          <p:cNvPr id="6" name="Picture 5" descr="logo_orange.png"/>
          <p:cNvPicPr>
            <a:picLocks noChangeAspect="1"/>
          </p:cNvPicPr>
          <p:nvPr/>
        </p:nvPicPr>
        <p:blipFill>
          <a:blip r:embed="rId3"/>
          <a:stretch>
            <a:fillRect/>
          </a:stretch>
        </p:blipFill>
        <p:spPr>
          <a:xfrm>
            <a:off x="11155680" y="457200"/>
            <a:ext cx="502920" cy="502920"/>
          </a:xfrm>
          <a:prstGeom prst="rect">
            <a:avLst/>
          </a:prstGeom>
        </p:spPr>
      </p:pic>
      <p:sp>
        <p:nvSpPr>
          <p:cNvPr id="7" name="TextBox 6"/>
          <p:cNvSpPr txBox="1"/>
          <p:nvPr/>
        </p:nvSpPr>
        <p:spPr>
          <a:xfrm>
            <a:off x="11155680" y="6400800"/>
            <a:ext cx="731520" cy="274320"/>
          </a:xfrm>
          <a:prstGeom prst="rect">
            <a:avLst/>
          </a:prstGeom>
          <a:noFill/>
        </p:spPr>
        <p:txBody>
          <a:bodyPr wrap="square" lIns="45720" tIns="27432" rIns="45720" bIns="27432" anchor="t">
            <a:spAutoFit/>
          </a:bodyPr>
          <a:lstStyle/>
          <a:p>
            <a:pPr algn="r"/>
            <a:r>
              <a:rPr sz="1000" b="0">
                <a:solidFill>
                  <a:srgbClr val="A3A3A3"/>
                </a:solidFill>
                <a:latin typeface="Arial"/>
              </a:rPr>
              <a:t>7</a:t>
            </a:r>
          </a:p>
        </p:txBody>
      </p:sp>
      <p:sp>
        <p:nvSpPr>
          <p:cNvPr id="8" name="TextBox 7"/>
          <p:cNvSpPr txBox="1"/>
          <p:nvPr/>
        </p:nvSpPr>
        <p:spPr>
          <a:xfrm>
            <a:off x="548640" y="6400800"/>
            <a:ext cx="5486400" cy="274320"/>
          </a:xfrm>
          <a:prstGeom prst="rect">
            <a:avLst/>
          </a:prstGeom>
          <a:noFill/>
        </p:spPr>
        <p:txBody>
          <a:bodyPr wrap="square" lIns="45720" tIns="27432" rIns="45720" bIns="27432" anchor="t">
            <a:spAutoFit/>
          </a:bodyPr>
          <a:lstStyle/>
          <a:p>
            <a:pPr algn="l"/>
            <a:r>
              <a:rPr sz="1000" b="0">
                <a:solidFill>
                  <a:srgbClr val="A3A3A3"/>
                </a:solidFill>
                <a:latin typeface="Arial"/>
              </a:rPr>
              <a:t>Second meeting: what we heard and the demo</a:t>
            </a:r>
          </a:p>
        </p:txBody>
      </p:sp>
      <p:sp>
        <p:nvSpPr>
          <p:cNvPr id="9" name="Rectangle 8"/>
          <p:cNvSpPr/>
          <p:nvPr/>
        </p:nvSpPr>
        <p:spPr>
          <a:xfrm>
            <a:off x="731520" y="1783080"/>
            <a:ext cx="2651760" cy="315468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783080"/>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920240"/>
            <a:ext cx="2286000" cy="365760"/>
          </a:xfrm>
          <a:prstGeom prst="rect">
            <a:avLst/>
          </a:prstGeom>
          <a:noFill/>
        </p:spPr>
        <p:txBody>
          <a:bodyPr wrap="square" lIns="45720" tIns="27432" rIns="45720" bIns="27432" anchor="t">
            <a:spAutoFit/>
          </a:bodyPr>
          <a:lstStyle/>
          <a:p>
            <a:pPr algn="l"/>
            <a:r>
              <a:rPr sz="1100" b="1">
                <a:solidFill>
                  <a:srgbClr val="D15010"/>
                </a:solidFill>
                <a:latin typeface="Arial"/>
              </a:rPr>
              <a:t>WEEKS 0-2</a:t>
            </a:r>
          </a:p>
        </p:txBody>
      </p:sp>
      <p:sp>
        <p:nvSpPr>
          <p:cNvPr id="12" name="TextBox 11"/>
          <p:cNvSpPr txBox="1"/>
          <p:nvPr/>
        </p:nvSpPr>
        <p:spPr>
          <a:xfrm>
            <a:off x="914400" y="2240280"/>
            <a:ext cx="2286000" cy="411480"/>
          </a:xfrm>
          <a:prstGeom prst="rect">
            <a:avLst/>
          </a:prstGeom>
          <a:noFill/>
        </p:spPr>
        <p:txBody>
          <a:bodyPr wrap="square" lIns="45720" tIns="27432" rIns="45720" bIns="27432" anchor="t">
            <a:spAutoFit/>
          </a:bodyPr>
          <a:lstStyle/>
          <a:p>
            <a:pPr algn="l"/>
            <a:r>
              <a:rPr sz="1900" b="1">
                <a:solidFill>
                  <a:srgbClr val="F5F5F5"/>
                </a:solidFill>
                <a:latin typeface="Arial"/>
              </a:rPr>
              <a:t>Foundations</a:t>
            </a:r>
          </a:p>
        </p:txBody>
      </p:sp>
      <p:sp>
        <p:nvSpPr>
          <p:cNvPr id="13" name="TextBox 12"/>
          <p:cNvSpPr txBox="1"/>
          <p:nvPr/>
        </p:nvSpPr>
        <p:spPr>
          <a:xfrm>
            <a:off x="914400" y="2834640"/>
            <a:ext cx="2286000" cy="2011680"/>
          </a:xfrm>
          <a:prstGeom prst="rect">
            <a:avLst/>
          </a:prstGeom>
          <a:noFill/>
        </p:spPr>
        <p:txBody>
          <a:bodyPr wrap="square" lIns="45720" tIns="27432" rIns="45720" bIns="27432" anchor="t">
            <a:spAutoFit/>
          </a:bodyPr>
          <a:lstStyle/>
          <a:p>
            <a:pPr algn="l">
              <a:spcAft>
                <a:spcPts val="600"/>
              </a:spcAft>
            </a:pPr>
            <a:r>
              <a:rPr sz="1300" b="0">
                <a:solidFill>
                  <a:srgbClr val="A3A3A3"/>
                </a:solidFill>
                <a:latin typeface="Arial"/>
              </a:rPr>
              <a:t>• Deployment model</a:t>
            </a:r>
          </a:p>
          <a:p>
            <a:pPr algn="l">
              <a:spcAft>
                <a:spcPts val="600"/>
              </a:spcAft>
            </a:pPr>
            <a:r>
              <a:rPr sz="1300" b="0">
                <a:solidFill>
                  <a:srgbClr val="A3A3A3"/>
                </a:solidFill>
                <a:latin typeface="Arial"/>
              </a:rPr>
              <a:t>• Network and identity</a:t>
            </a:r>
          </a:p>
          <a:p>
            <a:pPr algn="l">
              <a:spcAft>
                <a:spcPts val="600"/>
              </a:spcAft>
            </a:pPr>
            <a:r>
              <a:rPr sz="1300" b="0">
                <a:solidFill>
                  <a:srgbClr val="A3A3A3"/>
                </a:solidFill>
                <a:latin typeface="Arial"/>
              </a:rPr>
              <a:t>• Policy baseline</a:t>
            </a:r>
          </a:p>
          <a:p>
            <a:pPr algn="l">
              <a:spcAft>
                <a:spcPts val="600"/>
              </a:spcAft>
            </a:pPr>
            <a:r>
              <a:rPr sz="1300" b="0">
                <a:solidFill>
                  <a:srgbClr val="A3A3A3"/>
                </a:solidFill>
                <a:latin typeface="Arial"/>
              </a:rPr>
              <a:t>• Success metrics</a:t>
            </a:r>
          </a:p>
        </p:txBody>
      </p:sp>
      <p:sp>
        <p:nvSpPr>
          <p:cNvPr id="14" name="Rectangle 13"/>
          <p:cNvSpPr/>
          <p:nvPr/>
        </p:nvSpPr>
        <p:spPr>
          <a:xfrm>
            <a:off x="3520439" y="1783080"/>
            <a:ext cx="2651760" cy="315468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520439" y="1783080"/>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03320" y="1920240"/>
            <a:ext cx="2286000" cy="365760"/>
          </a:xfrm>
          <a:prstGeom prst="rect">
            <a:avLst/>
          </a:prstGeom>
          <a:noFill/>
        </p:spPr>
        <p:txBody>
          <a:bodyPr wrap="square" lIns="45720" tIns="27432" rIns="45720" bIns="27432" anchor="t">
            <a:spAutoFit/>
          </a:bodyPr>
          <a:lstStyle/>
          <a:p>
            <a:pPr algn="l"/>
            <a:r>
              <a:rPr sz="1100" b="1">
                <a:solidFill>
                  <a:srgbClr val="D15010"/>
                </a:solidFill>
                <a:latin typeface="Arial"/>
              </a:rPr>
              <a:t>WEEKS 2-6</a:t>
            </a:r>
          </a:p>
        </p:txBody>
      </p:sp>
      <p:sp>
        <p:nvSpPr>
          <p:cNvPr id="17" name="TextBox 16"/>
          <p:cNvSpPr txBox="1"/>
          <p:nvPr/>
        </p:nvSpPr>
        <p:spPr>
          <a:xfrm>
            <a:off x="3703320" y="2240280"/>
            <a:ext cx="2286000" cy="411480"/>
          </a:xfrm>
          <a:prstGeom prst="rect">
            <a:avLst/>
          </a:prstGeom>
          <a:noFill/>
        </p:spPr>
        <p:txBody>
          <a:bodyPr wrap="square" lIns="45720" tIns="27432" rIns="45720" bIns="27432" anchor="t">
            <a:spAutoFit/>
          </a:bodyPr>
          <a:lstStyle/>
          <a:p>
            <a:pPr algn="l"/>
            <a:r>
              <a:rPr sz="1900" b="1">
                <a:solidFill>
                  <a:srgbClr val="F5F5F5"/>
                </a:solidFill>
                <a:latin typeface="Arial"/>
              </a:rPr>
              <a:t>Pilot</a:t>
            </a:r>
          </a:p>
        </p:txBody>
      </p:sp>
      <p:sp>
        <p:nvSpPr>
          <p:cNvPr id="18" name="TextBox 17"/>
          <p:cNvSpPr txBox="1"/>
          <p:nvPr/>
        </p:nvSpPr>
        <p:spPr>
          <a:xfrm>
            <a:off x="3703320" y="2834640"/>
            <a:ext cx="2286000" cy="2011680"/>
          </a:xfrm>
          <a:prstGeom prst="rect">
            <a:avLst/>
          </a:prstGeom>
          <a:noFill/>
        </p:spPr>
        <p:txBody>
          <a:bodyPr wrap="square" lIns="45720" tIns="27432" rIns="45720" bIns="27432" anchor="t">
            <a:spAutoFit/>
          </a:bodyPr>
          <a:lstStyle/>
          <a:p>
            <a:pPr algn="l">
              <a:spcAft>
                <a:spcPts val="600"/>
              </a:spcAft>
            </a:pPr>
            <a:r>
              <a:rPr sz="1300" b="0">
                <a:solidFill>
                  <a:srgbClr val="A3A3A3"/>
                </a:solidFill>
                <a:latin typeface="Arial"/>
              </a:rPr>
              <a:t>• 2-3 teams with tests</a:t>
            </a:r>
          </a:p>
          <a:p>
            <a:pPr algn="l">
              <a:spcAft>
                <a:spcPts val="600"/>
              </a:spcAft>
            </a:pPr>
            <a:r>
              <a:rPr sz="1300" b="0">
                <a:solidFill>
                  <a:srgbClr val="A3A3A3"/>
                </a:solidFill>
                <a:latin typeface="Arial"/>
              </a:rPr>
              <a:t>• AGENTS.md per repo</a:t>
            </a:r>
          </a:p>
          <a:p>
            <a:pPr algn="l">
              <a:spcAft>
                <a:spcPts val="600"/>
              </a:spcAft>
            </a:pPr>
            <a:r>
              <a:rPr sz="1300" b="0">
                <a:solidFill>
                  <a:srgbClr val="A3A3A3"/>
                </a:solidFill>
                <a:latin typeface="Arial"/>
              </a:rPr>
              <a:t>• Readiness report and fixes</a:t>
            </a:r>
          </a:p>
          <a:p>
            <a:pPr algn="l">
              <a:spcAft>
                <a:spcPts val="600"/>
              </a:spcAft>
            </a:pPr>
            <a:r>
              <a:rPr sz="1300" b="0">
                <a:solidFill>
                  <a:srgbClr val="A3A3A3"/>
                </a:solidFill>
                <a:latin typeface="Arial"/>
              </a:rPr>
              <a:t>• Low-risk work first</a:t>
            </a:r>
          </a:p>
        </p:txBody>
      </p:sp>
      <p:sp>
        <p:nvSpPr>
          <p:cNvPr id="19" name="Rectangle 18"/>
          <p:cNvSpPr/>
          <p:nvPr/>
        </p:nvSpPr>
        <p:spPr>
          <a:xfrm>
            <a:off x="6309359" y="1783080"/>
            <a:ext cx="2651760" cy="315468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09359" y="1783080"/>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1920240"/>
            <a:ext cx="2286000" cy="365760"/>
          </a:xfrm>
          <a:prstGeom prst="rect">
            <a:avLst/>
          </a:prstGeom>
          <a:noFill/>
        </p:spPr>
        <p:txBody>
          <a:bodyPr wrap="square" lIns="45720" tIns="27432" rIns="45720" bIns="27432" anchor="t">
            <a:spAutoFit/>
          </a:bodyPr>
          <a:lstStyle/>
          <a:p>
            <a:pPr algn="l"/>
            <a:r>
              <a:rPr sz="1100" b="1">
                <a:solidFill>
                  <a:srgbClr val="D15010"/>
                </a:solidFill>
                <a:latin typeface="Arial"/>
              </a:rPr>
              <a:t>WEEKS 6-12</a:t>
            </a:r>
          </a:p>
        </p:txBody>
      </p:sp>
      <p:sp>
        <p:nvSpPr>
          <p:cNvPr id="22" name="TextBox 21"/>
          <p:cNvSpPr txBox="1"/>
          <p:nvPr/>
        </p:nvSpPr>
        <p:spPr>
          <a:xfrm>
            <a:off x="6492240" y="2240280"/>
            <a:ext cx="2286000" cy="411480"/>
          </a:xfrm>
          <a:prstGeom prst="rect">
            <a:avLst/>
          </a:prstGeom>
          <a:noFill/>
        </p:spPr>
        <p:txBody>
          <a:bodyPr wrap="square" lIns="45720" tIns="27432" rIns="45720" bIns="27432" anchor="t">
            <a:spAutoFit/>
          </a:bodyPr>
          <a:lstStyle/>
          <a:p>
            <a:pPr algn="l"/>
            <a:r>
              <a:rPr sz="1900" b="1">
                <a:solidFill>
                  <a:srgbClr val="F5F5F5"/>
                </a:solidFill>
                <a:latin typeface="Arial"/>
              </a:rPr>
              <a:t>First migration</a:t>
            </a:r>
          </a:p>
        </p:txBody>
      </p:sp>
      <p:sp>
        <p:nvSpPr>
          <p:cNvPr id="23" name="TextBox 22"/>
          <p:cNvSpPr txBox="1"/>
          <p:nvPr/>
        </p:nvSpPr>
        <p:spPr>
          <a:xfrm>
            <a:off x="6492240" y="2834640"/>
            <a:ext cx="2286000" cy="2011680"/>
          </a:xfrm>
          <a:prstGeom prst="rect">
            <a:avLst/>
          </a:prstGeom>
          <a:noFill/>
        </p:spPr>
        <p:txBody>
          <a:bodyPr wrap="square" lIns="45720" tIns="27432" rIns="45720" bIns="27432" anchor="t">
            <a:spAutoFit/>
          </a:bodyPr>
          <a:lstStyle/>
          <a:p>
            <a:pPr algn="l">
              <a:spcAft>
                <a:spcPts val="600"/>
              </a:spcAft>
            </a:pPr>
            <a:r>
              <a:rPr sz="1300" b="0">
                <a:solidFill>
                  <a:srgbClr val="A3A3A3"/>
                </a:solidFill>
                <a:latin typeface="Arial"/>
              </a:rPr>
              <a:t>• One bounded legacy system</a:t>
            </a:r>
          </a:p>
          <a:p>
            <a:pPr algn="l">
              <a:spcAft>
                <a:spcPts val="600"/>
              </a:spcAft>
            </a:pPr>
            <a:r>
              <a:rPr sz="1300" b="0">
                <a:solidFill>
                  <a:srgbClr val="A3A3A3"/>
                </a:solidFill>
                <a:latin typeface="Arial"/>
              </a:rPr>
              <a:t>• Behavior pinned by tests</a:t>
            </a:r>
          </a:p>
          <a:p>
            <a:pPr algn="l">
              <a:spcAft>
                <a:spcPts val="600"/>
              </a:spcAft>
            </a:pPr>
            <a:r>
              <a:rPr sz="1300" b="0">
                <a:solidFill>
                  <a:srgbClr val="A3A3A3"/>
                </a:solidFill>
                <a:latin typeface="Arial"/>
              </a:rPr>
              <a:t>• Mission with approval gates</a:t>
            </a:r>
          </a:p>
          <a:p>
            <a:pPr algn="l">
              <a:spcAft>
                <a:spcPts val="600"/>
              </a:spcAft>
            </a:pPr>
            <a:r>
              <a:rPr sz="1300" b="0">
                <a:solidFill>
                  <a:srgbClr val="A3A3A3"/>
                </a:solidFill>
                <a:latin typeface="Arial"/>
              </a:rPr>
              <a:t>• Measured against a baseline</a:t>
            </a:r>
          </a:p>
        </p:txBody>
      </p:sp>
      <p:sp>
        <p:nvSpPr>
          <p:cNvPr id="24" name="Rectangle 23"/>
          <p:cNvSpPr/>
          <p:nvPr/>
        </p:nvSpPr>
        <p:spPr>
          <a:xfrm>
            <a:off x="9098280" y="1783080"/>
            <a:ext cx="2651760" cy="315468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098280" y="1783080"/>
            <a:ext cx="265176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81159" y="1920240"/>
            <a:ext cx="2286000" cy="365760"/>
          </a:xfrm>
          <a:prstGeom prst="rect">
            <a:avLst/>
          </a:prstGeom>
          <a:noFill/>
        </p:spPr>
        <p:txBody>
          <a:bodyPr wrap="square" lIns="45720" tIns="27432" rIns="45720" bIns="27432" anchor="t">
            <a:spAutoFit/>
          </a:bodyPr>
          <a:lstStyle/>
          <a:p>
            <a:pPr algn="l"/>
            <a:r>
              <a:rPr sz="1100" b="1">
                <a:solidFill>
                  <a:srgbClr val="D15010"/>
                </a:solidFill>
                <a:latin typeface="Arial"/>
              </a:rPr>
              <a:t>MONTH 3 ONWARD</a:t>
            </a:r>
          </a:p>
        </p:txBody>
      </p:sp>
      <p:sp>
        <p:nvSpPr>
          <p:cNvPr id="27" name="TextBox 26"/>
          <p:cNvSpPr txBox="1"/>
          <p:nvPr/>
        </p:nvSpPr>
        <p:spPr>
          <a:xfrm>
            <a:off x="9281159" y="2240280"/>
            <a:ext cx="2286000" cy="411480"/>
          </a:xfrm>
          <a:prstGeom prst="rect">
            <a:avLst/>
          </a:prstGeom>
          <a:noFill/>
        </p:spPr>
        <p:txBody>
          <a:bodyPr wrap="square" lIns="45720" tIns="27432" rIns="45720" bIns="27432" anchor="t">
            <a:spAutoFit/>
          </a:bodyPr>
          <a:lstStyle/>
          <a:p>
            <a:pPr algn="l"/>
            <a:r>
              <a:rPr sz="1900" b="1">
                <a:solidFill>
                  <a:srgbClr val="F5F5F5"/>
                </a:solidFill>
                <a:latin typeface="Arial"/>
              </a:rPr>
              <a:t>Scale</a:t>
            </a:r>
          </a:p>
        </p:txBody>
      </p:sp>
      <p:sp>
        <p:nvSpPr>
          <p:cNvPr id="28" name="TextBox 27"/>
          <p:cNvSpPr txBox="1"/>
          <p:nvPr/>
        </p:nvSpPr>
        <p:spPr>
          <a:xfrm>
            <a:off x="9281159" y="2834640"/>
            <a:ext cx="2286000" cy="2011680"/>
          </a:xfrm>
          <a:prstGeom prst="rect">
            <a:avLst/>
          </a:prstGeom>
          <a:noFill/>
        </p:spPr>
        <p:txBody>
          <a:bodyPr wrap="square" lIns="45720" tIns="27432" rIns="45720" bIns="27432" anchor="t">
            <a:spAutoFit/>
          </a:bodyPr>
          <a:lstStyle/>
          <a:p>
            <a:pPr algn="l">
              <a:spcAft>
                <a:spcPts val="600"/>
              </a:spcAft>
            </a:pPr>
            <a:r>
              <a:rPr sz="1300" b="0">
                <a:solidFill>
                  <a:srgbClr val="A3A3A3"/>
                </a:solidFill>
                <a:latin typeface="Arial"/>
              </a:rPr>
              <a:t>• Shared skills, hooks, droids</a:t>
            </a:r>
          </a:p>
          <a:p>
            <a:pPr algn="l">
              <a:spcAft>
                <a:spcPts val="600"/>
              </a:spcAft>
            </a:pPr>
            <a:r>
              <a:rPr sz="1300" b="0">
                <a:solidFill>
                  <a:srgbClr val="A3A3A3"/>
                </a:solidFill>
                <a:latin typeface="Arial"/>
              </a:rPr>
              <a:t>• Roll out by readiness</a:t>
            </a:r>
          </a:p>
          <a:p>
            <a:pPr algn="l">
              <a:spcAft>
                <a:spcPts val="600"/>
              </a:spcAft>
            </a:pPr>
            <a:r>
              <a:rPr sz="1300" b="0">
                <a:solidFill>
                  <a:srgbClr val="A3A3A3"/>
                </a:solidFill>
                <a:latin typeface="Arial"/>
              </a:rPr>
              <a:t>• Persistent automations</a:t>
            </a:r>
          </a:p>
          <a:p>
            <a:pPr algn="l">
              <a:spcAft>
                <a:spcPts val="600"/>
              </a:spcAft>
            </a:pPr>
            <a:r>
              <a:rPr sz="1300" b="0">
                <a:solidFill>
                  <a:srgbClr val="A3A3A3"/>
                </a:solidFill>
                <a:latin typeface="Arial"/>
              </a:rPr>
              <a:t>• Monthly telemetry review</a:t>
            </a:r>
          </a:p>
        </p:txBody>
      </p:sp>
      <p:sp>
        <p:nvSpPr>
          <p:cNvPr id="29" name="TextBox 28"/>
          <p:cNvSpPr txBox="1"/>
          <p:nvPr/>
        </p:nvSpPr>
        <p:spPr>
          <a:xfrm>
            <a:off x="731520" y="5166360"/>
            <a:ext cx="10698480" cy="274320"/>
          </a:xfrm>
          <a:prstGeom prst="rect">
            <a:avLst/>
          </a:prstGeom>
          <a:noFill/>
        </p:spPr>
        <p:txBody>
          <a:bodyPr wrap="square" lIns="45720" tIns="27432" rIns="45720" bIns="27432" anchor="t">
            <a:spAutoFit/>
          </a:bodyPr>
          <a:lstStyle/>
          <a:p>
            <a:pPr algn="l"/>
            <a:r>
              <a:rPr sz="1100" b="1">
                <a:solidFill>
                  <a:srgbClr val="D15010"/>
                </a:solidFill>
                <a:latin typeface="Arial"/>
              </a:rPr>
              <a:t>INSIDE EACH MIGRATION</a:t>
            </a:r>
          </a:p>
        </p:txBody>
      </p:sp>
      <p:sp>
        <p:nvSpPr>
          <p:cNvPr id="30" name="Pentagon 29"/>
          <p:cNvSpPr/>
          <p:nvPr/>
        </p:nvSpPr>
        <p:spPr>
          <a:xfrm>
            <a:off x="731520" y="5486400"/>
            <a:ext cx="1645920" cy="594360"/>
          </a:xfrm>
          <a:prstGeom prst="homePlat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45720" rIns="137160" rtlCol="0" anchor="ctr"/>
          <a:lstStyle/>
          <a:p>
            <a:pPr algn="ctr"/>
            <a:r>
              <a:rPr sz="1300" b="1">
                <a:solidFill>
                  <a:srgbClr val="F5F5F5"/>
                </a:solidFill>
                <a:latin typeface="Arial"/>
              </a:rPr>
              <a:t>Assess</a:t>
            </a:r>
          </a:p>
        </p:txBody>
      </p:sp>
      <p:sp>
        <p:nvSpPr>
          <p:cNvPr id="31" name="Pentagon 30"/>
          <p:cNvSpPr/>
          <p:nvPr/>
        </p:nvSpPr>
        <p:spPr>
          <a:xfrm>
            <a:off x="2532888" y="5486400"/>
            <a:ext cx="1645920" cy="594360"/>
          </a:xfrm>
          <a:prstGeom prst="homePlate">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lIns="45720" rIns="137160" rtlCol="0" anchor="ctr"/>
          <a:lstStyle/>
          <a:p>
            <a:pPr algn="ctr"/>
            <a:r>
              <a:rPr sz="1300" b="1">
                <a:solidFill>
                  <a:srgbClr val="F5F5F5"/>
                </a:solidFill>
                <a:latin typeface="Arial"/>
              </a:rPr>
              <a:t>Pin behavior</a:t>
            </a:r>
          </a:p>
        </p:txBody>
      </p:sp>
      <p:sp>
        <p:nvSpPr>
          <p:cNvPr id="32" name="Pentagon 31"/>
          <p:cNvSpPr/>
          <p:nvPr/>
        </p:nvSpPr>
        <p:spPr>
          <a:xfrm>
            <a:off x="4334256" y="5486400"/>
            <a:ext cx="1645920" cy="594360"/>
          </a:xfrm>
          <a:prstGeom prst="homePlat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45720" rIns="137160" rtlCol="0" anchor="ctr"/>
          <a:lstStyle/>
          <a:p>
            <a:pPr algn="ctr"/>
            <a:r>
              <a:rPr sz="1300" b="1">
                <a:solidFill>
                  <a:srgbClr val="F5F5F5"/>
                </a:solidFill>
                <a:latin typeface="Arial"/>
              </a:rPr>
              <a:t>Plan</a:t>
            </a:r>
          </a:p>
        </p:txBody>
      </p:sp>
      <p:sp>
        <p:nvSpPr>
          <p:cNvPr id="33" name="Pentagon 32"/>
          <p:cNvSpPr/>
          <p:nvPr/>
        </p:nvSpPr>
        <p:spPr>
          <a:xfrm>
            <a:off x="6135624" y="5486400"/>
            <a:ext cx="1645920" cy="594360"/>
          </a:xfrm>
          <a:prstGeom prst="homePlate">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lIns="45720" rIns="137160" rtlCol="0" anchor="ctr"/>
          <a:lstStyle/>
          <a:p>
            <a:pPr algn="ctr"/>
            <a:r>
              <a:rPr sz="1300" b="1">
                <a:solidFill>
                  <a:srgbClr val="F5F5F5"/>
                </a:solidFill>
                <a:latin typeface="Arial"/>
              </a:rPr>
              <a:t>Build</a:t>
            </a:r>
          </a:p>
        </p:txBody>
      </p:sp>
      <p:sp>
        <p:nvSpPr>
          <p:cNvPr id="34" name="Pentagon 33"/>
          <p:cNvSpPr/>
          <p:nvPr/>
        </p:nvSpPr>
        <p:spPr>
          <a:xfrm>
            <a:off x="7936992" y="5486400"/>
            <a:ext cx="1645920" cy="594360"/>
          </a:xfrm>
          <a:prstGeom prst="homePlat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lIns="45720" rIns="137160" rtlCol="0" anchor="ctr"/>
          <a:lstStyle/>
          <a:p>
            <a:pPr algn="ctr"/>
            <a:r>
              <a:rPr sz="1300" b="1">
                <a:solidFill>
                  <a:srgbClr val="F5F5F5"/>
                </a:solidFill>
                <a:latin typeface="Arial"/>
              </a:rPr>
              <a:t>Validate</a:t>
            </a:r>
          </a:p>
        </p:txBody>
      </p:sp>
      <p:sp>
        <p:nvSpPr>
          <p:cNvPr id="35" name="Pentagon 34"/>
          <p:cNvSpPr/>
          <p:nvPr/>
        </p:nvSpPr>
        <p:spPr>
          <a:xfrm>
            <a:off x="9738360" y="5486400"/>
            <a:ext cx="1645920" cy="594360"/>
          </a:xfrm>
          <a:prstGeom prst="homePlate">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lIns="45720" rIns="137160" rtlCol="0" anchor="ctr"/>
          <a:lstStyle/>
          <a:p>
            <a:pPr algn="ctr"/>
            <a:r>
              <a:rPr sz="1300" b="1">
                <a:solidFill>
                  <a:srgbClr val="F5F5F5"/>
                </a:solidFill>
                <a:latin typeface="Arial"/>
              </a:rPr>
              <a:t>Document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02920"/>
            <a:ext cx="73152" cy="868680"/>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9144000" cy="320040"/>
          </a:xfrm>
          <a:prstGeom prst="rect">
            <a:avLst/>
          </a:prstGeom>
          <a:noFill/>
        </p:spPr>
        <p:txBody>
          <a:bodyPr wrap="square" lIns="45720" tIns="27432" rIns="45720" bIns="27432" anchor="t">
            <a:spAutoFit/>
          </a:bodyPr>
          <a:lstStyle/>
          <a:p>
            <a:pPr algn="l"/>
            <a:r>
              <a:rPr sz="1200" b="1">
                <a:solidFill>
                  <a:srgbClr val="D15010"/>
                </a:solidFill>
                <a:latin typeface="Arial"/>
              </a:rPr>
              <a:t>WHAT WE PROPOSE</a:t>
            </a:r>
          </a:p>
        </p:txBody>
      </p:sp>
      <p:sp>
        <p:nvSpPr>
          <p:cNvPr id="5" name="TextBox 4"/>
          <p:cNvSpPr txBox="1"/>
          <p:nvPr/>
        </p:nvSpPr>
        <p:spPr>
          <a:xfrm>
            <a:off x="731520" y="749808"/>
            <a:ext cx="10515600" cy="731520"/>
          </a:xfrm>
          <a:prstGeom prst="rect">
            <a:avLst/>
          </a:prstGeom>
          <a:noFill/>
        </p:spPr>
        <p:txBody>
          <a:bodyPr wrap="square" lIns="45720" tIns="27432" rIns="45720" bIns="27432" anchor="t">
            <a:spAutoFit/>
          </a:bodyPr>
          <a:lstStyle/>
          <a:p>
            <a:pPr algn="l"/>
            <a:r>
              <a:rPr sz="3200" b="1">
                <a:solidFill>
                  <a:srgbClr val="F5F5F5"/>
                </a:solidFill>
                <a:latin typeface="Arial"/>
              </a:rPr>
              <a:t>Next steps</a:t>
            </a:r>
          </a:p>
        </p:txBody>
      </p:sp>
      <p:pic>
        <p:nvPicPr>
          <p:cNvPr id="6" name="Picture 5" descr="logo_orange.png"/>
          <p:cNvPicPr>
            <a:picLocks noChangeAspect="1"/>
          </p:cNvPicPr>
          <p:nvPr/>
        </p:nvPicPr>
        <p:blipFill>
          <a:blip r:embed="rId3"/>
          <a:stretch>
            <a:fillRect/>
          </a:stretch>
        </p:blipFill>
        <p:spPr>
          <a:xfrm>
            <a:off x="11155680" y="457200"/>
            <a:ext cx="502920" cy="502920"/>
          </a:xfrm>
          <a:prstGeom prst="rect">
            <a:avLst/>
          </a:prstGeom>
        </p:spPr>
      </p:pic>
      <p:sp>
        <p:nvSpPr>
          <p:cNvPr id="7" name="TextBox 6"/>
          <p:cNvSpPr txBox="1"/>
          <p:nvPr/>
        </p:nvSpPr>
        <p:spPr>
          <a:xfrm>
            <a:off x="11155680" y="6400800"/>
            <a:ext cx="731520" cy="274320"/>
          </a:xfrm>
          <a:prstGeom prst="rect">
            <a:avLst/>
          </a:prstGeom>
          <a:noFill/>
        </p:spPr>
        <p:txBody>
          <a:bodyPr wrap="square" lIns="45720" tIns="27432" rIns="45720" bIns="27432" anchor="t">
            <a:spAutoFit/>
          </a:bodyPr>
          <a:lstStyle/>
          <a:p>
            <a:pPr algn="r"/>
            <a:r>
              <a:rPr sz="1000" b="0">
                <a:solidFill>
                  <a:srgbClr val="A3A3A3"/>
                </a:solidFill>
                <a:latin typeface="Arial"/>
              </a:rPr>
              <a:t>8</a:t>
            </a:r>
          </a:p>
        </p:txBody>
      </p:sp>
      <p:sp>
        <p:nvSpPr>
          <p:cNvPr id="8" name="TextBox 7"/>
          <p:cNvSpPr txBox="1"/>
          <p:nvPr/>
        </p:nvSpPr>
        <p:spPr>
          <a:xfrm>
            <a:off x="548640" y="6400800"/>
            <a:ext cx="5486400" cy="274320"/>
          </a:xfrm>
          <a:prstGeom prst="rect">
            <a:avLst/>
          </a:prstGeom>
          <a:noFill/>
        </p:spPr>
        <p:txBody>
          <a:bodyPr wrap="square" lIns="45720" tIns="27432" rIns="45720" bIns="27432" anchor="t">
            <a:spAutoFit/>
          </a:bodyPr>
          <a:lstStyle/>
          <a:p>
            <a:pPr algn="l"/>
            <a:r>
              <a:rPr sz="1000" b="0">
                <a:solidFill>
                  <a:srgbClr val="A3A3A3"/>
                </a:solidFill>
                <a:latin typeface="Arial"/>
              </a:rPr>
              <a:t>Second meeting: what we heard and the demo</a:t>
            </a:r>
          </a:p>
        </p:txBody>
      </p:sp>
      <p:sp>
        <p:nvSpPr>
          <p:cNvPr id="9" name="Rectangle 8"/>
          <p:cNvSpPr/>
          <p:nvPr/>
        </p:nvSpPr>
        <p:spPr>
          <a:xfrm>
            <a:off x="731520" y="1783080"/>
            <a:ext cx="10698480" cy="73152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14400" y="1929384"/>
            <a:ext cx="438912" cy="438912"/>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5F5F5"/>
                </a:solidFill>
                <a:latin typeface="Arial"/>
              </a:rPr>
              <a:t>1</a:t>
            </a:r>
          </a:p>
        </p:txBody>
      </p:sp>
      <p:sp>
        <p:nvSpPr>
          <p:cNvPr id="11" name="TextBox 10"/>
          <p:cNvSpPr txBox="1"/>
          <p:nvPr/>
        </p:nvSpPr>
        <p:spPr>
          <a:xfrm>
            <a:off x="1554480" y="1874519"/>
            <a:ext cx="3840480" cy="548640"/>
          </a:xfrm>
          <a:prstGeom prst="rect">
            <a:avLst/>
          </a:prstGeom>
          <a:noFill/>
        </p:spPr>
        <p:txBody>
          <a:bodyPr wrap="square" lIns="45720" tIns="27432" rIns="45720" bIns="27432" anchor="ctr">
            <a:spAutoFit/>
          </a:bodyPr>
          <a:lstStyle/>
          <a:p>
            <a:pPr algn="l"/>
            <a:r>
              <a:rPr sz="1600" b="1">
                <a:solidFill>
                  <a:srgbClr val="F5F5F5"/>
                </a:solidFill>
                <a:latin typeface="Arial"/>
              </a:rPr>
              <a:t>Confirm goals and success metrics</a:t>
            </a:r>
          </a:p>
        </p:txBody>
      </p:sp>
      <p:sp>
        <p:nvSpPr>
          <p:cNvPr id="12" name="TextBox 11"/>
          <p:cNvSpPr txBox="1"/>
          <p:nvPr/>
        </p:nvSpPr>
        <p:spPr>
          <a:xfrm>
            <a:off x="5486400" y="1874519"/>
            <a:ext cx="5760720" cy="548640"/>
          </a:xfrm>
          <a:prstGeom prst="rect">
            <a:avLst/>
          </a:prstGeom>
          <a:noFill/>
        </p:spPr>
        <p:txBody>
          <a:bodyPr wrap="square" lIns="45720" tIns="27432" rIns="45720" bIns="27432" anchor="ctr">
            <a:spAutoFit/>
          </a:bodyPr>
          <a:lstStyle/>
          <a:p>
            <a:pPr algn="l"/>
            <a:r>
              <a:rPr sz="1300" b="0">
                <a:solidFill>
                  <a:srgbClr val="A3A3A3"/>
                </a:solidFill>
                <a:latin typeface="Arial"/>
              </a:rPr>
              <a:t>Agree what “done” and “safe” mean for the first migration.</a:t>
            </a:r>
          </a:p>
        </p:txBody>
      </p:sp>
      <p:sp>
        <p:nvSpPr>
          <p:cNvPr id="13" name="Rectangle 12"/>
          <p:cNvSpPr/>
          <p:nvPr/>
        </p:nvSpPr>
        <p:spPr>
          <a:xfrm>
            <a:off x="731520" y="2624328"/>
            <a:ext cx="10698480" cy="73152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14400" y="2770632"/>
            <a:ext cx="438912" cy="438912"/>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5F5F5"/>
                </a:solidFill>
                <a:latin typeface="Arial"/>
              </a:rPr>
              <a:t>2</a:t>
            </a:r>
          </a:p>
        </p:txBody>
      </p:sp>
      <p:sp>
        <p:nvSpPr>
          <p:cNvPr id="15" name="TextBox 14"/>
          <p:cNvSpPr txBox="1"/>
          <p:nvPr/>
        </p:nvSpPr>
        <p:spPr>
          <a:xfrm>
            <a:off x="1554480" y="2715768"/>
            <a:ext cx="3840480" cy="548640"/>
          </a:xfrm>
          <a:prstGeom prst="rect">
            <a:avLst/>
          </a:prstGeom>
          <a:noFill/>
        </p:spPr>
        <p:txBody>
          <a:bodyPr wrap="square" lIns="45720" tIns="27432" rIns="45720" bIns="27432" anchor="ctr">
            <a:spAutoFit/>
          </a:bodyPr>
          <a:lstStyle/>
          <a:p>
            <a:pPr algn="l"/>
            <a:r>
              <a:rPr sz="1600" b="1">
                <a:solidFill>
                  <a:srgbClr val="F5F5F5"/>
                </a:solidFill>
                <a:latin typeface="Arial"/>
              </a:rPr>
              <a:t>Choose the pilot</a:t>
            </a:r>
          </a:p>
        </p:txBody>
      </p:sp>
      <p:sp>
        <p:nvSpPr>
          <p:cNvPr id="16" name="TextBox 15"/>
          <p:cNvSpPr txBox="1"/>
          <p:nvPr/>
        </p:nvSpPr>
        <p:spPr>
          <a:xfrm>
            <a:off x="5486400" y="2715768"/>
            <a:ext cx="5760720" cy="548640"/>
          </a:xfrm>
          <a:prstGeom prst="rect">
            <a:avLst/>
          </a:prstGeom>
          <a:noFill/>
        </p:spPr>
        <p:txBody>
          <a:bodyPr wrap="square" lIns="45720" tIns="27432" rIns="45720" bIns="27432" anchor="ctr">
            <a:spAutoFit/>
          </a:bodyPr>
          <a:lstStyle/>
          <a:p>
            <a:pPr algn="l"/>
            <a:r>
              <a:rPr sz="1300" b="0">
                <a:solidFill>
                  <a:srgbClr val="A3A3A3"/>
                </a:solidFill>
                <a:latin typeface="Arial"/>
              </a:rPr>
              <a:t>Pick one legacy system and two or three teams with an engaged owner.</a:t>
            </a:r>
          </a:p>
        </p:txBody>
      </p:sp>
      <p:sp>
        <p:nvSpPr>
          <p:cNvPr id="17" name="Rectangle 16"/>
          <p:cNvSpPr/>
          <p:nvPr/>
        </p:nvSpPr>
        <p:spPr>
          <a:xfrm>
            <a:off x="731520" y="3465576"/>
            <a:ext cx="10698480" cy="73152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14400" y="3611880"/>
            <a:ext cx="438912" cy="438912"/>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5F5F5"/>
                </a:solidFill>
                <a:latin typeface="Arial"/>
              </a:rPr>
              <a:t>3</a:t>
            </a:r>
          </a:p>
        </p:txBody>
      </p:sp>
      <p:sp>
        <p:nvSpPr>
          <p:cNvPr id="19" name="TextBox 18"/>
          <p:cNvSpPr txBox="1"/>
          <p:nvPr/>
        </p:nvSpPr>
        <p:spPr>
          <a:xfrm>
            <a:off x="1554480" y="3557016"/>
            <a:ext cx="3840480" cy="548640"/>
          </a:xfrm>
          <a:prstGeom prst="rect">
            <a:avLst/>
          </a:prstGeom>
          <a:noFill/>
        </p:spPr>
        <p:txBody>
          <a:bodyPr wrap="square" lIns="45720" tIns="27432" rIns="45720" bIns="27432" anchor="ctr">
            <a:spAutoFit/>
          </a:bodyPr>
          <a:lstStyle/>
          <a:p>
            <a:pPr algn="l"/>
            <a:r>
              <a:rPr sz="1600" b="1">
                <a:solidFill>
                  <a:srgbClr val="F5F5F5"/>
                </a:solidFill>
                <a:latin typeface="Arial"/>
              </a:rPr>
              <a:t>Decide the deployment model</a:t>
            </a:r>
          </a:p>
        </p:txBody>
      </p:sp>
      <p:sp>
        <p:nvSpPr>
          <p:cNvPr id="20" name="TextBox 19"/>
          <p:cNvSpPr txBox="1"/>
          <p:nvPr/>
        </p:nvSpPr>
        <p:spPr>
          <a:xfrm>
            <a:off x="5486400" y="3557016"/>
            <a:ext cx="5760720" cy="548640"/>
          </a:xfrm>
          <a:prstGeom prst="rect">
            <a:avLst/>
          </a:prstGeom>
          <a:noFill/>
        </p:spPr>
        <p:txBody>
          <a:bodyPr wrap="square" lIns="45720" tIns="27432" rIns="45720" bIns="27432" anchor="ctr">
            <a:spAutoFit/>
          </a:bodyPr>
          <a:lstStyle/>
          <a:p>
            <a:pPr algn="l"/>
            <a:r>
              <a:rPr sz="1300" b="0">
                <a:solidFill>
                  <a:srgbClr val="A3A3A3"/>
                </a:solidFill>
                <a:latin typeface="Arial"/>
              </a:rPr>
              <a:t>Managed first, or private and air-gapped if a requirement calls for it. Start the security review.</a:t>
            </a:r>
          </a:p>
        </p:txBody>
      </p:sp>
      <p:sp>
        <p:nvSpPr>
          <p:cNvPr id="21" name="Rectangle 20"/>
          <p:cNvSpPr/>
          <p:nvPr/>
        </p:nvSpPr>
        <p:spPr>
          <a:xfrm>
            <a:off x="731520" y="4306824"/>
            <a:ext cx="10698480" cy="73152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14400" y="4453128"/>
            <a:ext cx="438912" cy="438912"/>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5F5F5"/>
                </a:solidFill>
                <a:latin typeface="Arial"/>
              </a:rPr>
              <a:t>4</a:t>
            </a:r>
          </a:p>
        </p:txBody>
      </p:sp>
      <p:sp>
        <p:nvSpPr>
          <p:cNvPr id="23" name="TextBox 22"/>
          <p:cNvSpPr txBox="1"/>
          <p:nvPr/>
        </p:nvSpPr>
        <p:spPr>
          <a:xfrm>
            <a:off x="1554480" y="4398264"/>
            <a:ext cx="3840480" cy="548640"/>
          </a:xfrm>
          <a:prstGeom prst="rect">
            <a:avLst/>
          </a:prstGeom>
          <a:noFill/>
        </p:spPr>
        <p:txBody>
          <a:bodyPr wrap="square" lIns="45720" tIns="27432" rIns="45720" bIns="27432" anchor="ctr">
            <a:spAutoFit/>
          </a:bodyPr>
          <a:lstStyle/>
          <a:p>
            <a:pPr algn="l"/>
            <a:r>
              <a:rPr sz="1600" b="1">
                <a:solidFill>
                  <a:srgbClr val="F5F5F5"/>
                </a:solidFill>
                <a:latin typeface="Arial"/>
              </a:rPr>
              <a:t>Run a readiness assessment</a:t>
            </a:r>
          </a:p>
        </p:txBody>
      </p:sp>
      <p:sp>
        <p:nvSpPr>
          <p:cNvPr id="24" name="TextBox 23"/>
          <p:cNvSpPr txBox="1"/>
          <p:nvPr/>
        </p:nvSpPr>
        <p:spPr>
          <a:xfrm>
            <a:off x="5486400" y="4398264"/>
            <a:ext cx="5760720" cy="548640"/>
          </a:xfrm>
          <a:prstGeom prst="rect">
            <a:avLst/>
          </a:prstGeom>
          <a:noFill/>
        </p:spPr>
        <p:txBody>
          <a:bodyPr wrap="square" lIns="45720" tIns="27432" rIns="45720" bIns="27432" anchor="ctr">
            <a:spAutoFit/>
          </a:bodyPr>
          <a:lstStyle/>
          <a:p>
            <a:pPr algn="l"/>
            <a:r>
              <a:rPr sz="1300" b="0">
                <a:solidFill>
                  <a:srgbClr val="A3A3A3"/>
                </a:solidFill>
                <a:latin typeface="Arial"/>
              </a:rPr>
              <a:t>Score a real repository and list the gaps before any migration begins.</a:t>
            </a:r>
          </a:p>
        </p:txBody>
      </p:sp>
      <p:sp>
        <p:nvSpPr>
          <p:cNvPr id="25" name="Rectangle 24"/>
          <p:cNvSpPr/>
          <p:nvPr/>
        </p:nvSpPr>
        <p:spPr>
          <a:xfrm>
            <a:off x="731520" y="5148072"/>
            <a:ext cx="10698480" cy="731520"/>
          </a:xfrm>
          <a:prstGeom prst="rect">
            <a:avLst/>
          </a:prstGeom>
          <a:solidFill>
            <a:srgbClr val="1A1A1A"/>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14400" y="5294376"/>
            <a:ext cx="438912" cy="438912"/>
          </a:xfrm>
          <a:prstGeom prst="ellipse">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5F5F5"/>
                </a:solidFill>
                <a:latin typeface="Arial"/>
              </a:rPr>
              <a:t>5</a:t>
            </a:r>
          </a:p>
        </p:txBody>
      </p:sp>
      <p:sp>
        <p:nvSpPr>
          <p:cNvPr id="27" name="TextBox 26"/>
          <p:cNvSpPr txBox="1"/>
          <p:nvPr/>
        </p:nvSpPr>
        <p:spPr>
          <a:xfrm>
            <a:off x="1554480" y="5239512"/>
            <a:ext cx="3840480" cy="548640"/>
          </a:xfrm>
          <a:prstGeom prst="rect">
            <a:avLst/>
          </a:prstGeom>
          <a:noFill/>
        </p:spPr>
        <p:txBody>
          <a:bodyPr wrap="square" lIns="45720" tIns="27432" rIns="45720" bIns="27432" anchor="ctr">
            <a:spAutoFit/>
          </a:bodyPr>
          <a:lstStyle/>
          <a:p>
            <a:pPr algn="l"/>
            <a:r>
              <a:rPr sz="1600" b="1">
                <a:solidFill>
                  <a:srgbClr val="F5F5F5"/>
                </a:solidFill>
                <a:latin typeface="Arial"/>
              </a:rPr>
              <a:t>Plan the pilot together</a:t>
            </a:r>
          </a:p>
        </p:txBody>
      </p:sp>
      <p:sp>
        <p:nvSpPr>
          <p:cNvPr id="28" name="TextBox 27"/>
          <p:cNvSpPr txBox="1"/>
          <p:nvPr/>
        </p:nvSpPr>
        <p:spPr>
          <a:xfrm>
            <a:off x="5486400" y="5239512"/>
            <a:ext cx="5760720" cy="548640"/>
          </a:xfrm>
          <a:prstGeom prst="rect">
            <a:avLst/>
          </a:prstGeom>
          <a:noFill/>
        </p:spPr>
        <p:txBody>
          <a:bodyPr wrap="square" lIns="45720" tIns="27432" rIns="45720" bIns="27432" anchor="ctr">
            <a:spAutoFit/>
          </a:bodyPr>
          <a:lstStyle/>
          <a:p>
            <a:pPr algn="l"/>
            <a:r>
              <a:rPr sz="1300" b="0">
                <a:solidFill>
                  <a:srgbClr val="A3A3A3"/>
                </a:solidFill>
                <a:latin typeface="Arial"/>
              </a:rPr>
              <a:t>Name owners, dates, and how we will measure against a baseline.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orange.png"/>
          <p:cNvPicPr>
            <a:picLocks noChangeAspect="1"/>
          </p:cNvPicPr>
          <p:nvPr/>
        </p:nvPicPr>
        <p:blipFill>
          <a:blip r:embed="rId3"/>
          <a:stretch>
            <a:fillRect/>
          </a:stretch>
        </p:blipFill>
        <p:spPr>
          <a:xfrm>
            <a:off x="5184648" y="1280160"/>
            <a:ext cx="1828800" cy="1828800"/>
          </a:xfrm>
          <a:prstGeom prst="rect">
            <a:avLst/>
          </a:prstGeom>
        </p:spPr>
      </p:pic>
      <p:sp>
        <p:nvSpPr>
          <p:cNvPr id="4" name="TextBox 3"/>
          <p:cNvSpPr txBox="1"/>
          <p:nvPr/>
        </p:nvSpPr>
        <p:spPr>
          <a:xfrm>
            <a:off x="0" y="3429000"/>
            <a:ext cx="12191695" cy="914400"/>
          </a:xfrm>
          <a:prstGeom prst="rect">
            <a:avLst/>
          </a:prstGeom>
          <a:noFill/>
        </p:spPr>
        <p:txBody>
          <a:bodyPr wrap="square" lIns="45720" tIns="27432" rIns="45720" bIns="27432" anchor="t">
            <a:spAutoFit/>
          </a:bodyPr>
          <a:lstStyle/>
          <a:p>
            <a:pPr algn="ctr"/>
            <a:r>
              <a:rPr sz="4800" b="1">
                <a:solidFill>
                  <a:srgbClr val="F5F5F5"/>
                </a:solidFill>
                <a:latin typeface="Arial"/>
              </a:rPr>
              <a:t>Thank you</a:t>
            </a:r>
          </a:p>
        </p:txBody>
      </p:sp>
      <p:sp>
        <p:nvSpPr>
          <p:cNvPr id="5" name="TextBox 4"/>
          <p:cNvSpPr txBox="1"/>
          <p:nvPr/>
        </p:nvSpPr>
        <p:spPr>
          <a:xfrm>
            <a:off x="0" y="4389120"/>
            <a:ext cx="12191695" cy="457200"/>
          </a:xfrm>
          <a:prstGeom prst="rect">
            <a:avLst/>
          </a:prstGeom>
          <a:noFill/>
        </p:spPr>
        <p:txBody>
          <a:bodyPr wrap="square" lIns="45720" tIns="27432" rIns="45720" bIns="27432" anchor="t">
            <a:spAutoFit/>
          </a:bodyPr>
          <a:lstStyle/>
          <a:p>
            <a:pPr algn="ctr"/>
            <a:r>
              <a:rPr sz="2000" b="0">
                <a:solidFill>
                  <a:srgbClr val="A3A3A3"/>
                </a:solidFill>
                <a:latin typeface="Arial"/>
              </a:rPr>
              <a:t>Questions and discussion</a:t>
            </a:r>
          </a:p>
        </p:txBody>
      </p:sp>
      <p:sp>
        <p:nvSpPr>
          <p:cNvPr id="6" name="Rectangle 5"/>
          <p:cNvSpPr/>
          <p:nvPr/>
        </p:nvSpPr>
        <p:spPr>
          <a:xfrm>
            <a:off x="5641848" y="5029200"/>
            <a:ext cx="914400" cy="54864"/>
          </a:xfrm>
          <a:prstGeom prst="rect">
            <a:avLst/>
          </a:prstGeom>
          <a:solidFill>
            <a:srgbClr val="D15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TotalTime>
  <Words>1419</Words>
  <Application>Microsoft Macintosh PowerPoint</Application>
  <PresentationFormat>Widescreen</PresentationFormat>
  <Paragraphs>166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Ahmed Shokr</cp:lastModifiedBy>
  <cp:revision>4</cp:revision>
  <dcterms:created xsi:type="dcterms:W3CDTF">2013-01-27T09:14:16Z</dcterms:created>
  <dcterms:modified xsi:type="dcterms:W3CDTF">2026-10-28T18:12:10Z</dcterms:modified>
  <cp:category/>
</cp:coreProperties>
</file>