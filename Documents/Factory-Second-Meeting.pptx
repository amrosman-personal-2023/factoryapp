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5" r:id="rId6"/>
    <p:sldId id="260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53"/>
    <p:restoredTop sz="77282"/>
  </p:normalViewPr>
  <p:slideViewPr>
    <p:cSldViewPr snapToGrid="0" snapToObjects="1">
      <p:cViewPr varScale="1">
        <p:scale>
          <a:sx n="66" d="100"/>
          <a:sy n="66" d="100"/>
        </p:scale>
        <p:origin x="161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8840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Thank them for the first conversation. Frame today: confirm we understood the goals, show how Factory addresses them, then run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CA" dirty="0"/>
              <a:t>LLMs offer</a:t>
            </a:r>
            <a:r>
              <a:rPr dirty="0"/>
              <a:t> agents, skills, hooks, MCP and headless modes. </a:t>
            </a:r>
            <a:r>
              <a:rPr lang="en-CA" dirty="0"/>
              <a:t>Though Factory adds the governance layer that enables AI to be a safe and repeatable</a:t>
            </a:r>
            <a:r>
              <a:rPr dirty="0"/>
              <a:t>, governed, org-wide default </a:t>
            </a:r>
            <a:r>
              <a:rPr lang="en-CA" dirty="0"/>
              <a:t>with </a:t>
            </a:r>
            <a:r>
              <a:rPr dirty="0"/>
              <a:t>measured result</a:t>
            </a:r>
            <a:r>
              <a:rPr lang="en-CA" dirty="0"/>
              <a:t>s</a:t>
            </a:r>
            <a:r>
              <a:rPr dirty="0"/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Owners and dates are blank on purpose: agree them in the room. Open items to confirm with Factory beforehand: SSO and SCIM specifics, Software Factory and OpenCompute preview access, pricing and credit model for their volume, comparable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Close. Leave the next-steps slide available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39487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91440" cy="1828800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309258" y="2592931"/>
            <a:ext cx="4480955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lang="en-CA" sz="1400" b="1" dirty="0">
                <a:solidFill>
                  <a:srgbClr val="D15010"/>
                </a:solidFill>
                <a:latin typeface="Arial"/>
              </a:rPr>
              <a:t>Taking control of your AI driven growth aspirations</a:t>
            </a:r>
            <a:endParaRPr sz="1400" b="1" dirty="0">
              <a:solidFill>
                <a:srgbClr val="D15010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" y="2057400"/>
            <a:ext cx="7498079" cy="67095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lang="en-CA" sz="4000" b="1" dirty="0">
                <a:solidFill>
                  <a:srgbClr val="F5F5F5"/>
                </a:solidFill>
                <a:latin typeface="Arial"/>
              </a:rPr>
              <a:t>Green Screen to Modern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657671"/>
            <a:ext cx="731520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b="0" i="1" dirty="0">
                <a:solidFill>
                  <a:srgbClr val="A3A3A3"/>
                </a:solidFill>
                <a:latin typeface="Arial"/>
              </a:rPr>
              <a:t>What we heard</a:t>
            </a:r>
            <a:r>
              <a:rPr lang="en-CA" b="0" i="1" dirty="0">
                <a:solidFill>
                  <a:srgbClr val="A3A3A3"/>
                </a:solidFill>
                <a:latin typeface="Arial"/>
              </a:rPr>
              <a:t> &amp;</a:t>
            </a:r>
            <a:r>
              <a:rPr b="0" i="1" dirty="0">
                <a:solidFill>
                  <a:srgbClr val="A3A3A3"/>
                </a:solidFill>
                <a:latin typeface="Arial"/>
              </a:rPr>
              <a:t> how Factory</a:t>
            </a:r>
            <a:r>
              <a:rPr lang="en-CA" b="0" i="1" dirty="0">
                <a:solidFill>
                  <a:srgbClr val="A3A3A3"/>
                </a:solidFill>
                <a:latin typeface="Arial"/>
              </a:rPr>
              <a:t>.ai</a:t>
            </a:r>
            <a:r>
              <a:rPr b="0" i="1" dirty="0">
                <a:solidFill>
                  <a:srgbClr val="A3A3A3"/>
                </a:solidFill>
                <a:latin typeface="Arial"/>
              </a:rPr>
              <a:t> helps</a:t>
            </a:r>
          </a:p>
        </p:txBody>
      </p:sp>
      <p:pic>
        <p:nvPicPr>
          <p:cNvPr id="7" name="Picture 6" descr="logo_orange.png"/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8778240" y="1737360"/>
            <a:ext cx="2743200" cy="2743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384088-E5C8-8CD1-0092-290DD069F1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906958"/>
            <a:ext cx="2530344" cy="8246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200" b="1">
                <a:solidFill>
                  <a:srgbClr val="D15010"/>
                </a:solidFill>
                <a:latin typeface="Arial"/>
              </a:rPr>
              <a:t>YOUR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51560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200" b="1">
                <a:solidFill>
                  <a:srgbClr val="F5F5F5"/>
                </a:solidFill>
                <a:latin typeface="Arial"/>
              </a:rPr>
              <a:t>What we heard</a:t>
            </a:r>
          </a:p>
        </p:txBody>
      </p:sp>
      <p:pic>
        <p:nvPicPr>
          <p:cNvPr id="6" name="Picture 5" descr="logo_orange.png"/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1155680" y="457200"/>
            <a:ext cx="502920" cy="502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>
                <a:solidFill>
                  <a:srgbClr val="A3A3A3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A3A3A3"/>
                </a:solidFill>
                <a:latin typeface="Arial"/>
              </a:rPr>
              <a:t>Second meeting: what we heard and the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5303520" cy="205740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783080"/>
            <a:ext cx="530352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32688" y="2039112"/>
            <a:ext cx="420624" cy="420624"/>
          </a:xfrm>
          <a:prstGeom prst="ellips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5F5F5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984248"/>
            <a:ext cx="4370831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Legacy systems hold the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51760"/>
            <a:ext cx="484632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A3A3A3"/>
                </a:solidFill>
                <a:latin typeface="Arial"/>
              </a:rPr>
              <a:t>Green-screen Python applications carry decades of business logic inside the screen code. There is no spec, and few people dare to change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303520" cy="205740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530352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64807" y="2039112"/>
            <a:ext cx="420624" cy="420624"/>
          </a:xfrm>
          <a:prstGeom prst="ellips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5F5F5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3448" y="2107757"/>
            <a:ext cx="4370831" cy="30162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600" b="1" dirty="0">
                <a:solidFill>
                  <a:srgbClr val="F5F5F5"/>
                </a:solidFill>
                <a:latin typeface="Arial"/>
              </a:rPr>
              <a:t>Move to modern </a:t>
            </a:r>
            <a:r>
              <a:rPr lang="en-CA" sz="1600" b="1" dirty="0">
                <a:solidFill>
                  <a:srgbClr val="F5F5F5"/>
                </a:solidFill>
                <a:latin typeface="Arial"/>
              </a:rPr>
              <a:t>a Modern App</a:t>
            </a:r>
            <a:endParaRPr sz="1600" b="1" dirty="0">
              <a:solidFill>
                <a:srgbClr val="F5F5F5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92240" y="2651760"/>
            <a:ext cx="484632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A3A3A3"/>
                </a:solidFill>
                <a:latin typeface="Arial"/>
              </a:rPr>
              <a:t>Migrate to a current Python stack with a web interface, without changing the way the business rules behave.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023360"/>
            <a:ext cx="5303520" cy="205740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4023360"/>
            <a:ext cx="530352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32688" y="4279392"/>
            <a:ext cx="420624" cy="420624"/>
          </a:xfrm>
          <a:prstGeom prst="ellips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5F5F5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224528"/>
            <a:ext cx="4370831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600" b="1" dirty="0">
                <a:solidFill>
                  <a:srgbClr val="F5F5F5"/>
                </a:solidFill>
                <a:latin typeface="Arial"/>
              </a:rPr>
              <a:t>Many teams, one standard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92040"/>
            <a:ext cx="484632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A3A3A3"/>
                </a:solidFill>
                <a:latin typeface="Arial"/>
              </a:rPr>
              <a:t>This is an enterprise with many teams. You want the same standards, guardrails and process for all of them, not a separate setup per team.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023360"/>
            <a:ext cx="5303520" cy="205740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63640" y="4023360"/>
            <a:ext cx="530352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64807" y="4279392"/>
            <a:ext cx="420624" cy="420624"/>
          </a:xfrm>
          <a:prstGeom prst="ellips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5F5F5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8" y="4224528"/>
            <a:ext cx="4370831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Control and proof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92040"/>
            <a:ext cx="484632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A3A3A3"/>
                </a:solidFill>
                <a:latin typeface="Arial"/>
              </a:rPr>
              <a:t>Leadership needs governance, visibility and bounded autonomy. Engineering needs evidence that the migrated system behaves like the old 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200" b="1">
                <a:solidFill>
                  <a:srgbClr val="D15010"/>
                </a:solidFill>
                <a:latin typeface="Arial"/>
              </a:rPr>
              <a:t>CAPABILITIES MAPPED TO YOUR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51560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200" b="1">
                <a:solidFill>
                  <a:srgbClr val="F5F5F5"/>
                </a:solidFill>
                <a:latin typeface="Arial"/>
              </a:rPr>
              <a:t>How Factory helps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>
                <a:solidFill>
                  <a:srgbClr val="A3A3A3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3520440" cy="210312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783080"/>
            <a:ext cx="352044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1984248"/>
            <a:ext cx="31089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Know if you are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651760"/>
            <a:ext cx="3063240" cy="11429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Agent Readiness scores a repo and shows the gaps, such as missing tests, before work starts.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783080"/>
            <a:ext cx="3520440" cy="210312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34840" y="1783080"/>
            <a:ext cx="352044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63440" y="1984248"/>
            <a:ext cx="31089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Migrate in controlled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651760"/>
            <a:ext cx="3063240" cy="11429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Missions turn a conversation into milestones with a human approval gate, and check the work against the running app.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783080"/>
            <a:ext cx="3520440" cy="210312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783080"/>
            <a:ext cx="352044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60" y="1984248"/>
            <a:ext cx="31089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Standardize across teams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51760"/>
            <a:ext cx="3063240" cy="11429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AGENTS.md, skills, hooks, subagents, plugins and managed settings give every team the same rules.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069080"/>
            <a:ext cx="3520440" cy="210312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4069080"/>
            <a:ext cx="352044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270248"/>
            <a:ext cx="31089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Cover the whole lifecycle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937760"/>
            <a:ext cx="3063240" cy="11429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Software Factory: triage, code review, QA, security audit, release, AutoWiki docs and incident response (private preview).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4069080"/>
            <a:ext cx="3520440" cy="210312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34840" y="4069080"/>
            <a:ext cx="352044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0" y="4270248"/>
            <a:ext cx="31089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Govern and observe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937760"/>
            <a:ext cx="3063240" cy="11429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Command policies, sandboxing, Droid Shield, MCP allowlists, and OpenTelemetry plus an analytics API.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4069080"/>
            <a:ext cx="3520440" cy="210312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138160" y="4069080"/>
            <a:ext cx="352044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4270248"/>
            <a:ext cx="310896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Run where you need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937760"/>
            <a:ext cx="3063240" cy="11429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Cloud, hybrid or air-gapped deployment, and model independence through admin-controlled models and gateways.</a:t>
            </a:r>
          </a:p>
        </p:txBody>
      </p:sp>
      <p:pic>
        <p:nvPicPr>
          <p:cNvPr id="33" name="Picture 32" descr="logo_orange.png">
            <a:extLst>
              <a:ext uri="{FF2B5EF4-FFF2-40B4-BE49-F238E27FC236}">
                <a16:creationId xmlns:a16="http://schemas.microsoft.com/office/drawing/2014/main" id="{6DDCE4C2-5F42-C9B0-5066-AC418ACC7D6F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0905060" y="498348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200" b="1">
                <a:solidFill>
                  <a:srgbClr val="D15010"/>
                </a:solidFill>
                <a:latin typeface="Arial"/>
              </a:rPr>
              <a:t>BEYOND A FASTER 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51560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200" b="1">
                <a:solidFill>
                  <a:srgbClr val="F5F5F5"/>
                </a:solidFill>
                <a:latin typeface="Arial"/>
              </a:rPr>
              <a:t>What makes Factory different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>
                <a:solidFill>
                  <a:srgbClr val="A3A3A3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5303520" cy="205740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783080"/>
            <a:ext cx="530352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32688" y="2039112"/>
            <a:ext cx="420624" cy="420624"/>
          </a:xfrm>
          <a:prstGeom prst="ellips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5F5F5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984248"/>
            <a:ext cx="4370831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Orchestration built for big changes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51760"/>
            <a:ext cx="484632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A3A3A3"/>
                </a:solidFill>
                <a:latin typeface="Arial"/>
              </a:rPr>
              <a:t>Missions plan with you, split work into milestones, run workers in parallel and check each feature like a user would.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5303520" cy="205740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530352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64807" y="2039112"/>
            <a:ext cx="420624" cy="420624"/>
          </a:xfrm>
          <a:prstGeom prst="ellips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5F5F5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3448" y="1984248"/>
            <a:ext cx="4370831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The lifecycle comes packaged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51760"/>
            <a:ext cx="484632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A3A3A3"/>
                </a:solidFill>
                <a:latin typeface="Arial"/>
              </a:rPr>
              <a:t>Intake, validation, release, documentation and monitoring sit on one coverage map, instead of being assembled team by team.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023360"/>
            <a:ext cx="5303520" cy="205740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4023360"/>
            <a:ext cx="530352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32688" y="4279392"/>
            <a:ext cx="420624" cy="420624"/>
          </a:xfrm>
          <a:prstGeom prst="ellips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5F5F5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224528"/>
            <a:ext cx="4370831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Your control, your environment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92040"/>
            <a:ext cx="484632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A3A3A3"/>
                </a:solidFill>
                <a:latin typeface="Arial"/>
              </a:rPr>
              <a:t>Code stays local unless you choose a model or gateway. Droid can run in the cloud, on premises or air-gapped, with approved models.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023360"/>
            <a:ext cx="5303520" cy="205740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63640" y="4023360"/>
            <a:ext cx="530352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64807" y="4279392"/>
            <a:ext cx="420624" cy="420624"/>
          </a:xfrm>
          <a:prstGeom prst="ellips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400" b="1">
                <a:solidFill>
                  <a:srgbClr val="F5F5F5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8" y="4224528"/>
            <a:ext cx="4370831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Governance is part of the product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92040"/>
            <a:ext cx="484632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A3A3A3"/>
                </a:solidFill>
                <a:latin typeface="Arial"/>
              </a:rPr>
              <a:t>Policy, sandboxing and telemetry are set centrally, so autonomy stays bounded and every action can be observed.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1307592"/>
            <a:ext cx="10698480" cy="2554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1" dirty="0">
                <a:solidFill>
                  <a:srgbClr val="D15010"/>
                </a:solidFill>
                <a:latin typeface="Arial"/>
              </a:rPr>
              <a:t>The difference is not any single feature. It is a governed</a:t>
            </a:r>
            <a:r>
              <a:rPr lang="en-CA" sz="1300" b="1" dirty="0">
                <a:solidFill>
                  <a:srgbClr val="D15010"/>
                </a:solidFill>
                <a:latin typeface="Arial"/>
              </a:rPr>
              <a:t> and </a:t>
            </a:r>
            <a:r>
              <a:rPr sz="1300" b="1" dirty="0">
                <a:solidFill>
                  <a:srgbClr val="D15010"/>
                </a:solidFill>
                <a:latin typeface="Arial"/>
              </a:rPr>
              <a:t>org-wide</a:t>
            </a:r>
            <a:r>
              <a:rPr lang="en-CA" sz="1300" b="1" dirty="0">
                <a:solidFill>
                  <a:srgbClr val="D15010"/>
                </a:solidFill>
                <a:latin typeface="Arial"/>
              </a:rPr>
              <a:t> process</a:t>
            </a:r>
            <a:r>
              <a:rPr sz="1300" b="1" dirty="0">
                <a:solidFill>
                  <a:srgbClr val="D15010"/>
                </a:solidFill>
                <a:latin typeface="Arial"/>
              </a:rPr>
              <a:t> that you can measure</a:t>
            </a:r>
          </a:p>
        </p:txBody>
      </p:sp>
      <p:pic>
        <p:nvPicPr>
          <p:cNvPr id="30" name="Picture 29" descr="logo_orange.png">
            <a:extLst>
              <a:ext uri="{FF2B5EF4-FFF2-40B4-BE49-F238E27FC236}">
                <a16:creationId xmlns:a16="http://schemas.microsoft.com/office/drawing/2014/main" id="{8012554E-CBBB-6384-8147-B5C33DF1F367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0905060" y="498348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5020AA-86D7-81E6-96D6-BFBB718D4DD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A56F8E-9FB7-DBDA-9589-35C6FDF761F7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en-US" sz="6600" cap="none" dirty="0">
                <a:ln w="1016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Demo</a:t>
            </a:r>
            <a:endParaRPr lang="en-US" cap="none" dirty="0">
              <a:ln w="10160">
                <a:noFill/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pic>
        <p:nvPicPr>
          <p:cNvPr id="5" name="Picture 4" descr="logo_orange.png">
            <a:extLst>
              <a:ext uri="{FF2B5EF4-FFF2-40B4-BE49-F238E27FC236}">
                <a16:creationId xmlns:a16="http://schemas.microsoft.com/office/drawing/2014/main" id="{E6BF8F92-29F5-9764-DB9E-99E1C6CC400C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10905060" y="498348"/>
            <a:ext cx="502920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110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200" b="1">
                <a:solidFill>
                  <a:srgbClr val="D15010"/>
                </a:solidFill>
                <a:latin typeface="Arial"/>
              </a:rPr>
              <a:t>CUSTOMER-REPORTED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51560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200" b="1">
                <a:solidFill>
                  <a:srgbClr val="F5F5F5"/>
                </a:solidFill>
                <a:latin typeface="Arial"/>
              </a:rPr>
              <a:t>Success stories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>
                <a:solidFill>
                  <a:srgbClr val="A3A3A3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2651760" cy="402336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783080"/>
            <a:ext cx="265176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22860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>
                <a:solidFill>
                  <a:srgbClr val="F5F5F5"/>
                </a:solidFill>
                <a:latin typeface="Arial"/>
              </a:rPr>
              <a:t>Blackstone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377440"/>
            <a:ext cx="2286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D15010"/>
                </a:solidFill>
                <a:latin typeface="Arial"/>
              </a:rPr>
              <a:t>Asset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2286000" cy="2926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Needed agents to run inside its own data center and no dependence on one model vendor.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Onboarding a new developer went “from up to two weeks to minutes.”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39" y="1783080"/>
            <a:ext cx="2651760" cy="402336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20439" y="1783080"/>
            <a:ext cx="265176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03320" y="1965960"/>
            <a:ext cx="22860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>
                <a:solidFill>
                  <a:srgbClr val="F5F5F5"/>
                </a:solidFill>
                <a:latin typeface="Arial"/>
              </a:rPr>
              <a:t>Comarch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77440"/>
            <a:ext cx="2286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D15010"/>
                </a:solidFill>
                <a:latin typeface="Arial"/>
              </a:rPr>
              <a:t>IT services, 5,000 specialists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834640"/>
            <a:ext cx="2286000" cy="2926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Scoped XSLT modernization: “10,000 man days” estimated, completed “in 45 days.”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Database migration scoped at “45 days,” completed by a Factory mission “in 6 hours.”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59" y="1783080"/>
            <a:ext cx="2651760" cy="402336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59" y="1783080"/>
            <a:ext cx="265176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1965960"/>
            <a:ext cx="22860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>
                <a:solidFill>
                  <a:srgbClr val="F5F5F5"/>
                </a:solidFill>
                <a:latin typeface="Arial"/>
              </a:rPr>
              <a:t>Nav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377440"/>
            <a:ext cx="2286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D15010"/>
                </a:solidFill>
                <a:latin typeface="Arial"/>
              </a:rPr>
              <a:t>Fintech, legacy Rails plus Java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834640"/>
            <a:ext cx="2286000" cy="2926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“60%” reduction in context-switching time.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“2x” faster feature development cycles.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1783080"/>
            <a:ext cx="2651760" cy="402336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098280" y="1783080"/>
            <a:ext cx="265176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81159" y="1965960"/>
            <a:ext cx="22860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>
                <a:solidFill>
                  <a:srgbClr val="F5F5F5"/>
                </a:solidFill>
                <a:latin typeface="Arial"/>
              </a:rPr>
              <a:t>Chainguard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59" y="2377440"/>
            <a:ext cx="2286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D15010"/>
                </a:solidFill>
                <a:latin typeface="Arial"/>
              </a:rPr>
              <a:t>Secure open source software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59" y="2834640"/>
            <a:ext cx="2286000" cy="2926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One session kept going for two weeks without losing context.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F5F5F5"/>
                </a:solidFill>
                <a:latin typeface="Arial"/>
              </a:rPr>
              <a:t>Listed results: 6 repositories, 80 packages built.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943600"/>
            <a:ext cx="10698480" cy="22467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0" dirty="0">
                <a:solidFill>
                  <a:srgbClr val="A3A3A3"/>
                </a:solidFill>
                <a:latin typeface="Arial"/>
              </a:rPr>
              <a:t>Results are customer-reported, from </a:t>
            </a:r>
            <a:r>
              <a:rPr sz="1100" b="0" dirty="0" err="1">
                <a:solidFill>
                  <a:srgbClr val="A3A3A3"/>
                </a:solidFill>
                <a:latin typeface="Arial"/>
              </a:rPr>
              <a:t>factory.com</a:t>
            </a:r>
            <a:r>
              <a:rPr sz="1100" b="0" dirty="0">
                <a:solidFill>
                  <a:srgbClr val="A3A3A3"/>
                </a:solidFill>
                <a:latin typeface="Arial"/>
              </a:rPr>
              <a:t>/case-studies. </a:t>
            </a:r>
          </a:p>
        </p:txBody>
      </p:sp>
      <p:pic>
        <p:nvPicPr>
          <p:cNvPr id="30" name="Picture 29" descr="logo_orange.png">
            <a:extLst>
              <a:ext uri="{FF2B5EF4-FFF2-40B4-BE49-F238E27FC236}">
                <a16:creationId xmlns:a16="http://schemas.microsoft.com/office/drawing/2014/main" id="{1AFAF873-1BAE-9375-216E-A78104893E47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0905060" y="498348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200" b="1">
                <a:solidFill>
                  <a:srgbClr val="D15010"/>
                </a:solidFill>
                <a:latin typeface="Arial"/>
              </a:rPr>
              <a:t>PROPOSED SHAPE, SET TOGETHER WITH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51560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200" b="1">
                <a:solidFill>
                  <a:srgbClr val="F5F5F5"/>
                </a:solidFill>
                <a:latin typeface="Arial"/>
              </a:rPr>
              <a:t>What a project looks like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>
                <a:solidFill>
                  <a:srgbClr val="A3A3A3"/>
                </a:solidFill>
                <a:latin typeface="Arial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83080"/>
            <a:ext cx="2651760" cy="315468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1783080"/>
            <a:ext cx="265176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920240"/>
            <a:ext cx="2286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D15010"/>
                </a:solidFill>
                <a:latin typeface="Arial"/>
              </a:rPr>
              <a:t>WEEKS 0-2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22860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900" b="1">
                <a:solidFill>
                  <a:srgbClr val="F5F5F5"/>
                </a:solidFill>
                <a:latin typeface="Arial"/>
              </a:rPr>
              <a:t>Foundations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2286000" cy="2011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Deployment model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Network and identity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Policy baseline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Success metrics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39" y="1783080"/>
            <a:ext cx="2651760" cy="315468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20439" y="1783080"/>
            <a:ext cx="265176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03320" y="1920240"/>
            <a:ext cx="2286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D15010"/>
                </a:solidFill>
                <a:latin typeface="Arial"/>
              </a:rPr>
              <a:t>WEEKS 2-6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240280"/>
            <a:ext cx="22860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900" b="1">
                <a:solidFill>
                  <a:srgbClr val="F5F5F5"/>
                </a:solidFill>
                <a:latin typeface="Arial"/>
              </a:rPr>
              <a:t>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834640"/>
            <a:ext cx="2286000" cy="2011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2-3 teams with tests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AGENTS.md per repo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Readiness report and fixes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Low-risk work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59" y="1783080"/>
            <a:ext cx="2651760" cy="315468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59" y="1783080"/>
            <a:ext cx="265176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1920240"/>
            <a:ext cx="2286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D15010"/>
                </a:solidFill>
                <a:latin typeface="Arial"/>
              </a:rPr>
              <a:t>WEEKS 6-12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240280"/>
            <a:ext cx="22860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900" b="1">
                <a:solidFill>
                  <a:srgbClr val="F5F5F5"/>
                </a:solidFill>
                <a:latin typeface="Arial"/>
              </a:rPr>
              <a:t>First migration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834640"/>
            <a:ext cx="2286000" cy="2011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One bounded legacy system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Behavior pinned by tests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Mission with approval gates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Measured against a baseline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280" y="1783080"/>
            <a:ext cx="2651760" cy="315468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098280" y="1783080"/>
            <a:ext cx="265176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281159" y="1920240"/>
            <a:ext cx="2286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D15010"/>
                </a:solidFill>
                <a:latin typeface="Arial"/>
              </a:rPr>
              <a:t>MONTH 3 ONWARD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59" y="2240280"/>
            <a:ext cx="228600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900" b="1">
                <a:solidFill>
                  <a:srgbClr val="F5F5F5"/>
                </a:solidFill>
                <a:latin typeface="Arial"/>
              </a:rPr>
              <a:t>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59" y="2834640"/>
            <a:ext cx="2286000" cy="2011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Shared skills, hooks, droids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Roll out by readiness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Persistent automations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A3A3A3"/>
                </a:solidFill>
                <a:latin typeface="Arial"/>
              </a:rPr>
              <a:t>• Monthly telemetry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66360"/>
            <a:ext cx="106984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100" b="1">
                <a:solidFill>
                  <a:srgbClr val="D15010"/>
                </a:solidFill>
                <a:latin typeface="Arial"/>
              </a:rPr>
              <a:t>INSIDE EACH MIGRATION</a:t>
            </a:r>
          </a:p>
        </p:txBody>
      </p:sp>
      <p:sp>
        <p:nvSpPr>
          <p:cNvPr id="30" name="Pentagon 29"/>
          <p:cNvSpPr/>
          <p:nvPr/>
        </p:nvSpPr>
        <p:spPr>
          <a:xfrm>
            <a:off x="731520" y="5486400"/>
            <a:ext cx="1645920" cy="594360"/>
          </a:xfrm>
          <a:prstGeom prst="homePlat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137160" rtlCol="0" anchor="ctr"/>
          <a:lstStyle/>
          <a:p>
            <a:pPr algn="ctr"/>
            <a:r>
              <a:rPr sz="1300" b="1">
                <a:solidFill>
                  <a:srgbClr val="F5F5F5"/>
                </a:solidFill>
                <a:latin typeface="Arial"/>
              </a:rPr>
              <a:t>Assess</a:t>
            </a:r>
          </a:p>
        </p:txBody>
      </p:sp>
      <p:sp>
        <p:nvSpPr>
          <p:cNvPr id="31" name="Pentagon 30"/>
          <p:cNvSpPr/>
          <p:nvPr/>
        </p:nvSpPr>
        <p:spPr>
          <a:xfrm>
            <a:off x="2532888" y="5486400"/>
            <a:ext cx="1645920" cy="594360"/>
          </a:xfrm>
          <a:prstGeom prst="homePlate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137160" rtlCol="0" anchor="ctr"/>
          <a:lstStyle/>
          <a:p>
            <a:pPr algn="ctr"/>
            <a:r>
              <a:rPr sz="1300" b="1">
                <a:solidFill>
                  <a:srgbClr val="F5F5F5"/>
                </a:solidFill>
                <a:latin typeface="Arial"/>
              </a:rPr>
              <a:t>Pin behavior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34256" y="5486400"/>
            <a:ext cx="1645920" cy="594360"/>
          </a:xfrm>
          <a:prstGeom prst="homePlat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137160" rtlCol="0" anchor="ctr"/>
          <a:lstStyle/>
          <a:p>
            <a:pPr algn="ctr"/>
            <a:r>
              <a:rPr sz="1300" b="1">
                <a:solidFill>
                  <a:srgbClr val="F5F5F5"/>
                </a:solidFill>
                <a:latin typeface="Arial"/>
              </a:rPr>
              <a:t>Plan</a:t>
            </a:r>
          </a:p>
        </p:txBody>
      </p:sp>
      <p:sp>
        <p:nvSpPr>
          <p:cNvPr id="33" name="Pentagon 32"/>
          <p:cNvSpPr/>
          <p:nvPr/>
        </p:nvSpPr>
        <p:spPr>
          <a:xfrm>
            <a:off x="6135624" y="5486400"/>
            <a:ext cx="1645920" cy="594360"/>
          </a:xfrm>
          <a:prstGeom prst="homePlate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137160" rtlCol="0" anchor="ctr"/>
          <a:lstStyle/>
          <a:p>
            <a:pPr algn="ctr"/>
            <a:r>
              <a:rPr sz="1300" b="1">
                <a:solidFill>
                  <a:srgbClr val="F5F5F5"/>
                </a:solidFill>
                <a:latin typeface="Arial"/>
              </a:rPr>
              <a:t>Build</a:t>
            </a:r>
          </a:p>
        </p:txBody>
      </p:sp>
      <p:sp>
        <p:nvSpPr>
          <p:cNvPr id="34" name="Pentagon 33"/>
          <p:cNvSpPr/>
          <p:nvPr/>
        </p:nvSpPr>
        <p:spPr>
          <a:xfrm>
            <a:off x="7936992" y="5486400"/>
            <a:ext cx="1645920" cy="594360"/>
          </a:xfrm>
          <a:prstGeom prst="homePlat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137160" rtlCol="0" anchor="ctr"/>
          <a:lstStyle/>
          <a:p>
            <a:pPr algn="ctr"/>
            <a:r>
              <a:rPr sz="1300" b="1">
                <a:solidFill>
                  <a:srgbClr val="F5F5F5"/>
                </a:solidFill>
                <a:latin typeface="Arial"/>
              </a:rPr>
              <a:t>Validate</a:t>
            </a:r>
          </a:p>
        </p:txBody>
      </p:sp>
      <p:sp>
        <p:nvSpPr>
          <p:cNvPr id="35" name="Pentagon 34"/>
          <p:cNvSpPr/>
          <p:nvPr/>
        </p:nvSpPr>
        <p:spPr>
          <a:xfrm>
            <a:off x="9738360" y="5486400"/>
            <a:ext cx="1645920" cy="594360"/>
          </a:xfrm>
          <a:prstGeom prst="homePlate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137160" rtlCol="0" anchor="ctr"/>
          <a:lstStyle/>
          <a:p>
            <a:pPr algn="ctr"/>
            <a:r>
              <a:rPr sz="1300" b="1">
                <a:solidFill>
                  <a:srgbClr val="F5F5F5"/>
                </a:solidFill>
                <a:latin typeface="Arial"/>
              </a:rPr>
              <a:t>Document</a:t>
            </a:r>
          </a:p>
        </p:txBody>
      </p:sp>
      <p:pic>
        <p:nvPicPr>
          <p:cNvPr id="36" name="Picture 35" descr="logo_orange.png">
            <a:extLst>
              <a:ext uri="{FF2B5EF4-FFF2-40B4-BE49-F238E27FC236}">
                <a16:creationId xmlns:a16="http://schemas.microsoft.com/office/drawing/2014/main" id="{3086FF33-1D9F-3A25-3AB5-70E938894C40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0905060" y="498348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02A3C06A-68B9-57E8-541C-C7E856537B30}"/>
              </a:ext>
            </a:extLst>
          </p:cNvPr>
          <p:cNvSpPr/>
          <p:nvPr/>
        </p:nvSpPr>
        <p:spPr>
          <a:xfrm>
            <a:off x="746607" y="4002076"/>
            <a:ext cx="10698480" cy="73152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-34935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200" b="1">
                <a:solidFill>
                  <a:srgbClr val="D15010"/>
                </a:solidFill>
                <a:latin typeface="Arial"/>
              </a:rPr>
              <a:t>WHAT WE PROPOSE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51560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200" b="1">
                <a:solidFill>
                  <a:srgbClr val="F5F5F5"/>
                </a:solidFill>
                <a:latin typeface="Arial"/>
              </a:rP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>
                <a:solidFill>
                  <a:srgbClr val="A3A3A3"/>
                </a:solidFill>
                <a:latin typeface="Arial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37868"/>
            <a:ext cx="10698480" cy="73152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14400" y="2484172"/>
            <a:ext cx="438912" cy="438912"/>
          </a:xfrm>
          <a:prstGeom prst="ellips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5F5F5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29307"/>
            <a:ext cx="384048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sz="1600" b="1">
                <a:solidFill>
                  <a:srgbClr val="F5F5F5"/>
                </a:solidFill>
                <a:latin typeface="Arial"/>
              </a:rPr>
              <a:t>Confirm goals and success metrics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179116"/>
            <a:ext cx="10698480" cy="73152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4400" y="3325420"/>
            <a:ext cx="438912" cy="438912"/>
          </a:xfrm>
          <a:prstGeom prst="ellips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5F5F5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394065"/>
            <a:ext cx="3840480" cy="30162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lang="en-CA" sz="1600" b="1" dirty="0">
                <a:solidFill>
                  <a:srgbClr val="F5F5F5"/>
                </a:solidFill>
                <a:latin typeface="Arial"/>
              </a:rPr>
              <a:t>Plan the pilot together</a:t>
            </a:r>
          </a:p>
        </p:txBody>
      </p:sp>
      <p:pic>
        <p:nvPicPr>
          <p:cNvPr id="29" name="Picture 28" descr="logo_orange.png">
            <a:extLst>
              <a:ext uri="{FF2B5EF4-FFF2-40B4-BE49-F238E27FC236}">
                <a16:creationId xmlns:a16="http://schemas.microsoft.com/office/drawing/2014/main" id="{FC3947C6-0E46-8649-2741-8A14509C7AFD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0905060" y="498348"/>
            <a:ext cx="502920" cy="50292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AA4989E3-A8AB-E31B-C710-10A6F7940C74}"/>
              </a:ext>
            </a:extLst>
          </p:cNvPr>
          <p:cNvSpPr/>
          <p:nvPr/>
        </p:nvSpPr>
        <p:spPr>
          <a:xfrm>
            <a:off x="746607" y="4025094"/>
            <a:ext cx="10698480" cy="731520"/>
          </a:xfrm>
          <a:prstGeom prst="rect">
            <a:avLst/>
          </a:prstGeom>
          <a:solidFill>
            <a:srgbClr val="1A1A1A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BF476849-5FF7-8E32-6F90-C0A918E796B5}"/>
              </a:ext>
            </a:extLst>
          </p:cNvPr>
          <p:cNvSpPr/>
          <p:nvPr/>
        </p:nvSpPr>
        <p:spPr>
          <a:xfrm>
            <a:off x="929487" y="4171398"/>
            <a:ext cx="438912" cy="438912"/>
          </a:xfrm>
          <a:prstGeom prst="ellipse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b="1" dirty="0">
                <a:solidFill>
                  <a:srgbClr val="F5F5F5"/>
                </a:solidFill>
                <a:latin typeface="Arial"/>
              </a:rPr>
              <a:t>3</a:t>
            </a:r>
            <a:endParaRPr sz="1400" b="1" dirty="0">
              <a:solidFill>
                <a:srgbClr val="F5F5F5"/>
              </a:solidFill>
              <a:latin typeface="Arial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9A02C2-5A9E-6101-1CBB-DF4849F80F99}"/>
              </a:ext>
            </a:extLst>
          </p:cNvPr>
          <p:cNvSpPr txBox="1"/>
          <p:nvPr/>
        </p:nvSpPr>
        <p:spPr>
          <a:xfrm>
            <a:off x="1569567" y="4240043"/>
            <a:ext cx="3840480" cy="30162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lang="en-CA" sz="1600" b="1" dirty="0">
                <a:solidFill>
                  <a:srgbClr val="F5F5F5"/>
                </a:solidFill>
                <a:latin typeface="Arial"/>
              </a:rPr>
              <a:t>Validate success and going forward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orange.png"/>
          <p:cNvPicPr>
            <a:picLocks noChangeAspect="1"/>
          </p:cNvPicPr>
          <p:nvPr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5184648" y="128016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429000"/>
            <a:ext cx="12191695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4800" b="1">
                <a:solidFill>
                  <a:srgbClr val="F5F5F5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000" b="0">
                <a:solidFill>
                  <a:srgbClr val="A3A3A3"/>
                </a:solidFill>
                <a:latin typeface="Arial"/>
              </a:rPr>
              <a:t>Questions and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5029200"/>
            <a:ext cx="914400" cy="54864"/>
          </a:xfrm>
          <a:prstGeom prst="rect">
            <a:avLst/>
          </a:prstGeom>
          <a:solidFill>
            <a:srgbClr val="D15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854</Words>
  <Application>Microsoft Macintosh PowerPoint</Application>
  <PresentationFormat>Widescreen</PresentationFormat>
  <Paragraphs>120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Demo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Ahmed Shokr</cp:lastModifiedBy>
  <cp:revision>8</cp:revision>
  <dcterms:created xsi:type="dcterms:W3CDTF">2013-01-27T09:14:16Z</dcterms:created>
  <dcterms:modified xsi:type="dcterms:W3CDTF">2026-10-29T02:01:15Z</dcterms:modified>
  <cp:category/>
</cp:coreProperties>
</file>